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9a48e374a54c16" /><Relationship Type="http://schemas.openxmlformats.org/officeDocument/2006/relationships/extended-properties" Target="/docProps/app.xml" Id="R7801002371324f83" /><Relationship Type="http://schemas.openxmlformats.org/officeDocument/2006/relationships/officeDocument" Target="/ppt/presentation.xml" Id="R5b1b16604c6644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f10840bd7b46a1"/>
  </p:sldMasterIdLst>
  <p:notesMasterIdLst>
    <p:notesMasterId xmlns:r="http://schemas.openxmlformats.org/officeDocument/2006/relationships" r:id="Rf093cf8b9a394816"/>
  </p:notesMasterIdLst>
  <p:sldIdLst>
    <p:sldId xmlns:r="http://schemas.openxmlformats.org/officeDocument/2006/relationships" id="256" r:id="R9d85af105ea140f7"/>
    <p:sldId xmlns:r="http://schemas.openxmlformats.org/officeDocument/2006/relationships" id="257" r:id="Rb1f0ee64a88f4b97"/>
    <p:sldId xmlns:r="http://schemas.openxmlformats.org/officeDocument/2006/relationships" id="258" r:id="Rb34c8654e63d4203"/>
    <p:sldId xmlns:r="http://schemas.openxmlformats.org/officeDocument/2006/relationships" id="259" r:id="R18aea2ffe81942dd"/>
    <p:sldId xmlns:r="http://schemas.openxmlformats.org/officeDocument/2006/relationships" id="260" r:id="Rfa635cb49a5648e3"/>
    <p:sldId xmlns:r="http://schemas.openxmlformats.org/officeDocument/2006/relationships" id="261" r:id="R01938af59ad14eaf"/>
    <p:sldId xmlns:r="http://schemas.openxmlformats.org/officeDocument/2006/relationships" id="262" r:id="R72b4bf9fcbee4a11"/>
    <p:sldId xmlns:r="http://schemas.openxmlformats.org/officeDocument/2006/relationships" id="263" r:id="R064ed5fb77054386"/>
    <p:sldId xmlns:r="http://schemas.openxmlformats.org/officeDocument/2006/relationships" id="264" r:id="Rae233b8a59334287"/>
    <p:sldId xmlns:r="http://schemas.openxmlformats.org/officeDocument/2006/relationships" id="265" r:id="Rd1c4104842ec4af1"/>
    <p:sldId xmlns:r="http://schemas.openxmlformats.org/officeDocument/2006/relationships" id="266" r:id="R22c949ad738e4ecc"/>
    <p:sldId xmlns:r="http://schemas.openxmlformats.org/officeDocument/2006/relationships" id="267" r:id="R765cfee45ce947da"/>
    <p:sldId xmlns:r="http://schemas.openxmlformats.org/officeDocument/2006/relationships" id="268" r:id="R8899736bf80e4e0d"/>
    <p:sldId xmlns:r="http://schemas.openxmlformats.org/officeDocument/2006/relationships" id="269" r:id="Rbcd17337db9d42b9"/>
    <p:sldId xmlns:r="http://schemas.openxmlformats.org/officeDocument/2006/relationships" id="270" r:id="Raa78ed7f167042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dd1f09a6534929" /><Relationship Type="http://schemas.openxmlformats.org/officeDocument/2006/relationships/slideMaster" Target="/ppt/slideMasters/slideMaster1.xml" Id="R7cf10840bd7b46a1" /><Relationship Type="http://schemas.openxmlformats.org/officeDocument/2006/relationships/notesMaster" Target="/ppt/notesMasters/notesMaster1.xml" Id="Rf093cf8b9a394816" /><Relationship Type="http://schemas.openxmlformats.org/officeDocument/2006/relationships/presProps" Target="/ppt/presProps.xml" Id="Rc271331f31e84b26" /><Relationship Type="http://schemas.openxmlformats.org/officeDocument/2006/relationships/tableStyles" Target="/ppt/tableStyles.xml" Id="R8e59f0b3f194454b" /><Relationship Type="http://schemas.openxmlformats.org/officeDocument/2006/relationships/slide" Target="/ppt/slides/slide1.xml" Id="R9d85af105ea140f7" /><Relationship Type="http://schemas.openxmlformats.org/officeDocument/2006/relationships/slide" Target="/ppt/slides/slide2.xml" Id="Rb1f0ee64a88f4b97" /><Relationship Type="http://schemas.openxmlformats.org/officeDocument/2006/relationships/slide" Target="/ppt/slides/slide3.xml" Id="Rb34c8654e63d4203" /><Relationship Type="http://schemas.openxmlformats.org/officeDocument/2006/relationships/slide" Target="/ppt/slides/slide4.xml" Id="R18aea2ffe81942dd" /><Relationship Type="http://schemas.openxmlformats.org/officeDocument/2006/relationships/slide" Target="/ppt/slides/slide5.xml" Id="Rfa635cb49a5648e3" /><Relationship Type="http://schemas.openxmlformats.org/officeDocument/2006/relationships/slide" Target="/ppt/slides/slide6.xml" Id="R01938af59ad14eaf" /><Relationship Type="http://schemas.openxmlformats.org/officeDocument/2006/relationships/slide" Target="/ppt/slides/slide7.xml" Id="R72b4bf9fcbee4a11" /><Relationship Type="http://schemas.openxmlformats.org/officeDocument/2006/relationships/slide" Target="/ppt/slides/slide8.xml" Id="R064ed5fb77054386" /><Relationship Type="http://schemas.openxmlformats.org/officeDocument/2006/relationships/slide" Target="/ppt/slides/slide9.xml" Id="Rae233b8a59334287" /><Relationship Type="http://schemas.openxmlformats.org/officeDocument/2006/relationships/slide" Target="/ppt/slides/slide10.xml" Id="Rd1c4104842ec4af1" /><Relationship Type="http://schemas.openxmlformats.org/officeDocument/2006/relationships/slide" Target="/ppt/slides/slide11.xml" Id="R22c949ad738e4ecc" /><Relationship Type="http://schemas.openxmlformats.org/officeDocument/2006/relationships/slide" Target="/ppt/slides/slide12.xml" Id="R765cfee45ce947da" /><Relationship Type="http://schemas.openxmlformats.org/officeDocument/2006/relationships/slide" Target="/ppt/slides/slide13.xml" Id="R8899736bf80e4e0d" /><Relationship Type="http://schemas.openxmlformats.org/officeDocument/2006/relationships/slide" Target="/ppt/slides/slide14.xml" Id="Rbcd17337db9d42b9" /><Relationship Type="http://schemas.openxmlformats.org/officeDocument/2006/relationships/slide" Target="/ppt/slides/slide15.xml" Id="Raa78ed7f167042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05d41fcdba45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6c3d1f2b8d4e16" /><Relationship Type="http://schemas.openxmlformats.org/officeDocument/2006/relationships/notesMaster" Target="/ppt/notesMasters/notesMaster1.xml" Id="Rd3355e0f794441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23885d7c6d46f4" /><Relationship Type="http://schemas.openxmlformats.org/officeDocument/2006/relationships/notesMaster" Target="/ppt/notesMasters/notesMaster1.xml" Id="R7b466ec0f76641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19bee0c7444aab" /><Relationship Type="http://schemas.openxmlformats.org/officeDocument/2006/relationships/notesMaster" Target="/ppt/notesMasters/notesMaster1.xml" Id="R6e0d448449b646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f9e995f02f4c06" /><Relationship Type="http://schemas.openxmlformats.org/officeDocument/2006/relationships/notesMaster" Target="/ppt/notesMasters/notesMaster1.xml" Id="R61447e04c77e4c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b10c669f084d45" /><Relationship Type="http://schemas.openxmlformats.org/officeDocument/2006/relationships/notesMaster" Target="/ppt/notesMasters/notesMaster1.xml" Id="R75f99f66a05344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fdd8a77a9a431a" /><Relationship Type="http://schemas.openxmlformats.org/officeDocument/2006/relationships/notesMaster" Target="/ppt/notesMasters/notesMaster1.xml" Id="R97cc787c57a741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e0aba9418c4e6a" /><Relationship Type="http://schemas.openxmlformats.org/officeDocument/2006/relationships/notesMaster" Target="/ppt/notesMasters/notesMaster1.xml" Id="R309539f2490343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38ce170c5346a0" /><Relationship Type="http://schemas.openxmlformats.org/officeDocument/2006/relationships/notesMaster" Target="/ppt/notesMasters/notesMaster1.xml" Id="R2ab7e217773f43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8b9ce40a194baa" /><Relationship Type="http://schemas.openxmlformats.org/officeDocument/2006/relationships/notesMaster" Target="/ppt/notesMasters/notesMaster1.xml" Id="R1f8f15c266244a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17ee2010944b1a" /><Relationship Type="http://schemas.openxmlformats.org/officeDocument/2006/relationships/notesMaster" Target="/ppt/notesMasters/notesMaster1.xml" Id="Rb319335d0a874e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88728d3eab43b2" /><Relationship Type="http://schemas.openxmlformats.org/officeDocument/2006/relationships/notesMaster" Target="/ppt/notesMasters/notesMaster1.xml" Id="R399b4032738c4e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9fe96fe59e4c0e" /><Relationship Type="http://schemas.openxmlformats.org/officeDocument/2006/relationships/notesMaster" Target="/ppt/notesMasters/notesMaster1.xml" Id="Rcfe0e4bc99474e0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7b126c873a4d49" /><Relationship Type="http://schemas.openxmlformats.org/officeDocument/2006/relationships/notesMaster" Target="/ppt/notesMasters/notesMaster1.xml" Id="R892019e439034f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203f1c202044db" /><Relationship Type="http://schemas.openxmlformats.org/officeDocument/2006/relationships/notesMaster" Target="/ppt/notesMasters/notesMaster1.xml" Id="Re9e151d733ab4f8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0ea34db99244b81" /><Relationship Type="http://schemas.openxmlformats.org/officeDocument/2006/relationships/notesMaster" Target="/ppt/notesMasters/notesMaster1.xml" Id="Rafe3a3234db141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MergePilot解决的不是让模型再多写一点代码，而是让多Agent代码协作具备工程控制面。Agent负责语义判断，确定性Controller负责状态、交接、审批、回滚和审计。今天展示的是Windows 11加WSL2本地Preview，不是生产系统。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production_verified=false；不得称production ready。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https://github.com/nghqqa/MergePilot/releases/tag/v0.1.0-preview.3</a:t>
            </a:r>
          </a:p>
          <a:p xmlns:a="http://schemas.openxmlformats.org/drawingml/2006/main">
            <a:r>
              <a:t>- .impeccable/review/wide.png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初赛按职责画了六个逻辑Agent。落地后发现Triage和Fix Planner更适合成为有Schema、deadline和失败闭合能力的Skill阶段，因此运行时收敛为四个Agent。我们减少了两次模型交接，但保留全部职责。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初赛材料是历史快照，不回写当前能力。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docs/初赛证据索引.md</a:t>
            </a:r>
          </a:p>
          <a:p xmlns:a="http://schemas.openxmlformats.org/drawingml/2006/main">
            <a:r>
              <a:t>- docs/复赛材料/00-材料约束.md</a:t>
            </a:r>
          </a:p>
          <a:p xmlns:a="http://schemas.openxmlformats.org/drawingml/2006/main">
            <a:r>
              <a:t>- tools/workflow-controller/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单个Agent能够给出建议，但无法独自承担状态一致性、授权、幂等和崩溃恢复。MergePilot把这些职责放到Controller、Gateway和审计事实中，让Agent只承担适合模型的语义判断。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不宣称所有外部Agent运行时故障均已解决。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docs/M3-B4-审批票据与Action-Outbox设计.md</a:t>
            </a:r>
          </a:p>
          <a:p xmlns:a="http://schemas.openxmlformats.org/drawingml/2006/main">
            <a:r>
              <a:t>- evidence/m3b-b4e/</a:t>
            </a:r>
          </a:p>
          <a:p xmlns:a="http://schemas.openxmlformats.org/drawingml/2006/main">
            <a:r>
              <a:t>- evidence/m3b-b5/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Controller是唯一流程状态权威，AgentTeams只负责语义协作。Skill以结构化合同执行，Gateway决定是否允许工具调用，GitHub MCP只执行经过治理的操作。底部数据和证据平面让每次状态变化都能回溯。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GitHub MCP是隔离服务，不称sidecar。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tools/workflow-controller/</a:t>
            </a:r>
          </a:p>
          <a:p xmlns:a="http://schemas.openxmlformats.org/drawingml/2006/main">
            <a:r>
              <a:t>- tools/policy-gateway/</a:t>
            </a:r>
          </a:p>
          <a:p xmlns:a="http://schemas.openxmlformats.org/drawingml/2006/main">
            <a:r>
              <a:t>- docs/复赛材料/00-材料约束.md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Agent数量不是能力指标。Triage和Fix Planning没有独立凭证和扩缩容需求，拆成Agent只会增加上下文损耗。当前四个运行时身份与六类职责更符合最小权限和可恢复性。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不再写六个已部署Agent。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config/souls/</a:t>
            </a:r>
          </a:p>
          <a:p xmlns:a="http://schemas.openxmlformats.org/drawingml/2006/main">
            <a:r>
              <a:t>- tools/agentteams/</a:t>
            </a:r>
          </a:p>
          <a:p xmlns:a="http://schemas.openxmlformats.org/drawingml/2006/main">
            <a:r>
              <a:t>- docs/附录A-Agent-Identity清单.md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六类Skill不是六段Prompt，而是具有输入输出Schema、超时和错误码的工程组件。Reviewer、Fixer和Verifier可以组合调用，但流程状态仍由Controller推进。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RAG当前为advisory，不宣称已提升Reviewer或Fixer准确率。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skills/</a:t>
            </a:r>
          </a:p>
          <a:p xmlns:a="http://schemas.openxmlformats.org/drawingml/2006/main">
            <a:r>
              <a:t>- evidence/m4/m4f/verification.txt</a:t>
            </a:r>
          </a:p>
          <a:p xmlns:a="http://schemas.openxmlformats.org/drawingml/2006/main">
            <a:r>
              <a:t>- docs/M5-0-HiClaw-Live设计冻结.md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Controller把review、fix、verify以及回滚阶段写进状态机。消息可以重复，进程可以重启，但只有满足当前状态和revision条件的事件才能推进。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revision_producer_contract=NOT_VERIFIED。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tools/workflow-controller/controller.py</a:t>
            </a:r>
          </a:p>
          <a:p xmlns:a="http://schemas.openxmlformats.org/drawingml/2006/main">
            <a:r>
              <a:t>- tools/workflow-controller/m4f_ingress.py</a:t>
            </a:r>
          </a:p>
          <a:p xmlns:a="http://schemas.openxmlformats.org/drawingml/2006/main">
            <a:r>
              <a:t>- evidence/m3b-b4e/</a:t>
            </a:r>
          </a:p>
          <a:p xmlns:a="http://schemas.openxmlformats.org/drawingml/2006/main">
            <a:r>
              <a:t>- evidence/m3c/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Reviewer、Fixer和Verifier即使被错误提示诱导，也拿不到PAT。所有写操作先经过Gateway；保护路径、错误revision或缺少审批都会稳定DENY或HOLD。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不称MCP sidecar；不展示任何真实token。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config/m5-0c/real-github-policy.yaml</a:t>
            </a:r>
          </a:p>
          <a:p xmlns:a="http://schemas.openxmlformats.org/drawingml/2006/main">
            <a:r>
              <a:t>- tools/policy-gateway/gateway.py</a:t>
            </a:r>
          </a:p>
          <a:p xmlns:a="http://schemas.openxmlformats.org/drawingml/2006/main">
            <a:r>
              <a:t>- evidence/m3b-b5/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我们把可观测侧车改成审计与可观测平面，因为当前不是每个Agent旁边部署一个sidecar。结构化审计、本地Trace和未来SLS是不同完成状态，材料中分别陈述。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database_verified=false；audit_producer_contract=NOT_VERIFIED；云SLS未完成。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tools/audit-db/</a:t>
            </a:r>
          </a:p>
          <a:p xmlns:a="http://schemas.openxmlformats.org/drawingml/2006/main">
            <a:r>
              <a:t>- tools/trace_aggregator.py</a:t>
            </a:r>
          </a:p>
          <a:p xmlns:a="http://schemas.openxmlformats.org/drawingml/2006/main">
            <a:r>
              <a:t>- docs/M6A-OTel-Observability设计冻结.md</a:t>
            </a:r>
          </a:p>
          <a:p xmlns:a="http://schemas.openxmlformats.org/drawingml/2006/main">
            <a:r>
              <a:t>- docs/M6B-SLS-Observability设计冻结.md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回滚不是随便再提交一次。系统先核对revision、审批和当前状态，任何读取失败或漂移都进入HOLD。回滚完成后还要重新验证，失败则升级人工，不进行第二次盲目回滚。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不把历史脚本触发证据表述为所有场景均已生产自动回滚。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evidence/m3c/</a:t>
            </a:r>
          </a:p>
          <a:p xmlns:a="http://schemas.openxmlformats.org/drawingml/2006/main">
            <a:r>
              <a:t>- tools/harness/mp_gh4_harness.py</a:t>
            </a:r>
          </a:p>
          <a:p xmlns:a="http://schemas.openxmlformats.org/drawingml/2006/main">
            <a:r>
              <a:t>- workspace evidence bundle: temp/m8gh4-run27/evidence/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run35不是合成成功页。它从前置检查、网络、容器、防火墙、中继、数据库、路由探针、Gateway、Agent、Receipt和Matrix一路推进到complete。控制台仍明确显示direct routing为false，因为路径经过wsl-user-relay。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本地真实E2E不等于生产验证；direct_routing_verified=false。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workspace evidence bundle: temp/m8gh4-run27/evidence/run35_output.json</a:t>
            </a:r>
          </a:p>
          <a:p xmlns:a="http://schemas.openxmlformats.org/drawingml/2006/main">
            <a:r>
              <a:t>- workspace evidence bundle: temp/m8gh4-run27/evidence/session_run35_live_final.json</a:t>
            </a:r>
          </a:p>
          <a:p xmlns:a="http://schemas.openxmlformats.org/drawingml/2006/main">
            <a:r>
              <a:t>- docs/preview/projections/complete.run35.json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成功时展示完整证据；失败时第一个稳定错误和失败边立即置顶；上游失联时保留最后良好数据并标成stale。控制台观察系统，不操作系统。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它不是生产管理后台，也没有RBAC或写操作。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.impeccable/review/desktop.png</a:t>
            </a:r>
          </a:p>
          <a:p xmlns:a="http://schemas.openxmlformats.org/drawingml/2006/main">
            <a:r>
              <a:t>- .impeccable/review/desktop-failed.png</a:t>
            </a:r>
          </a:p>
          <a:p xmlns:a="http://schemas.openxmlformats.org/drawingml/2006/main">
            <a:r>
              <a:t>- tools/demo_console/live_assets/e2e-status.html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preview.3已经在同机空白状态完成真实安装和生命周期验收，冻结门禁为2246 passed、20 skipped，Windows浏览器页面和API双200。但独立物理机验收仍未完成，所以Release保持Pre-release，也不标Latest。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不称外部可用性验收完成。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https://github.com/nghqqa/MergePilot/releases/tag/v0.1.0-preview.3</a:t>
            </a:r>
          </a:p>
          <a:p xmlns:a="http://schemas.openxmlformats.org/drawingml/2006/main">
            <a:r>
              <a:t>- release/preview/bootstrapper.ps1</a:t>
            </a:r>
          </a:p>
          <a:p xmlns:a="http://schemas.openxmlformats.org/drawingml/2006/main">
            <a:r>
              <a:t>- PR #208</a:t>
            </a:r>
          </a:p>
          <a:p xmlns:a="http://schemas.openxmlformats.org/drawingml/2006/main">
            <a:r>
              <a:t>- commit 379744d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这组N=10乘2的受控本地评测显示，多角色编排主要减少误报，但没有提升召回，决策准确率反而下降，同时增加token和请求成本。因此它是方向性证据，不是多Agent必然更好的结论。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单模型、合成fixture、每组仅10例、非真实Gateway/GitHub/HiClaw全链。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benchmark/formal-summary.md</a:t>
            </a:r>
          </a:p>
          <a:p xmlns:a="http://schemas.openxmlformats.org/drawingml/2006/main">
            <a:r>
              <a:t>- benchmark/raw-runs/</a:t>
            </a:r>
          </a:p>
          <a:p xmlns:a="http://schemas.openxmlformats.org/drawingml/2006/main">
            <a:r>
              <a:t>- benchmark/freeze_formal_results.py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当前版本证明了本地Preview能够安装、运行、诊断、回滚和展示证据。下一阶段不是再堆Agent，而是补独立机器验收、扩大真实样本，并把待验证边界逐项转成可复算证据。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[Boundary] External、application integration、database、production、revision producer和audit producer均未验证。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docs/复赛材料/04-声明证据矩阵/声明证据矩阵.md</a:t>
            </a:r>
          </a:p>
          <a:p xmlns:a="http://schemas.openxmlformats.org/drawingml/2006/main">
            <a:r>
              <a:t>- https://github.com/nghqqa/MergePilot/releases/tag/v0.1.0-preview.3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fdd4004ee40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ad6f27b314461d" /><Relationship Type="http://schemas.openxmlformats.org/officeDocument/2006/relationships/slideLayout" Target="/ppt/slideLayouts/slideLayout1.xml" Id="R70ee1b1b27f542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ee1b1b27f542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79f8dbbb34b9c" /><Relationship Type="http://schemas.openxmlformats.org/officeDocument/2006/relationships/image" Target="/ppt/media/image.png" Id="R7148a669248848ec" /><Relationship Type="http://schemas.openxmlformats.org/officeDocument/2006/relationships/notesSlide" Target="/ppt/notesSlides/notesSlide1.xml" Id="R2cdd7d24588747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5734cdaa54ccf" /><Relationship Type="http://schemas.openxmlformats.org/officeDocument/2006/relationships/notesSlide" Target="/ppt/notesSlides/notesSlide2.xml" Id="R79ccdd50356a48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1914389f543a0" /><Relationship Type="http://schemas.openxmlformats.org/officeDocument/2006/relationships/notesSlide" Target="/ppt/notesSlides/notesSlide3.xml" Id="R59d45e114c254d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a5975c2284ceb" /><Relationship Type="http://schemas.openxmlformats.org/officeDocument/2006/relationships/notesSlide" Target="/ppt/notesSlides/notesSlide4.xml" Id="R698c6e73db5b4b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7e37858244393" /><Relationship Type="http://schemas.openxmlformats.org/officeDocument/2006/relationships/notesSlide" Target="/ppt/notesSlides/notesSlide5.xml" Id="R4b3a1641c6704a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1e119ebd749bb" /><Relationship Type="http://schemas.openxmlformats.org/officeDocument/2006/relationships/notesSlide" Target="/ppt/notesSlides/notesSlide6.xml" Id="R6235bb751e9b4a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85309210e4931" /><Relationship Type="http://schemas.openxmlformats.org/officeDocument/2006/relationships/notesSlide" Target="/ppt/notesSlides/notesSlide7.xml" Id="R0059bde1bd2e41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95f83f4254ded" /><Relationship Type="http://schemas.openxmlformats.org/officeDocument/2006/relationships/notesSlide" Target="/ppt/notesSlides/notesSlide8.xml" Id="R5758d8e091ae40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89985c7154e14" /><Relationship Type="http://schemas.openxmlformats.org/officeDocument/2006/relationships/notesSlide" Target="/ppt/notesSlides/notesSlide9.xml" Id="R56458dd936d140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67a11931d43fd" /><Relationship Type="http://schemas.openxmlformats.org/officeDocument/2006/relationships/notesSlide" Target="/ppt/notesSlides/notesSlide10.xml" Id="R041c60cc1d0541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9444fa56e486c" /><Relationship Type="http://schemas.openxmlformats.org/officeDocument/2006/relationships/notesSlide" Target="/ppt/notesSlides/notesSlide11.xml" Id="Rd985012edf244d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1da1e1acb4470" /><Relationship Type="http://schemas.openxmlformats.org/officeDocument/2006/relationships/image" Target="/ppt/media/image2.png" Id="Rec59c4181c704a8b" /><Relationship Type="http://schemas.openxmlformats.org/officeDocument/2006/relationships/image" Target="/ppt/media/image3.png" Id="R5ce06638a87b4bdb" /><Relationship Type="http://schemas.openxmlformats.org/officeDocument/2006/relationships/notesSlide" Target="/ppt/notesSlides/notesSlide12.xml" Id="Re167659bdd494d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5869841244390" /><Relationship Type="http://schemas.openxmlformats.org/officeDocument/2006/relationships/notesSlide" Target="/ppt/notesSlides/notesSlide13.xml" Id="Rec2bdbfb63ee4e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351c74ecb47f0" /><Relationship Type="http://schemas.openxmlformats.org/officeDocument/2006/relationships/chart" Target="/ppt/slides/charts/chart1.xml" Id="R55b026ad2bcf45e0" /><Relationship Type="http://schemas.openxmlformats.org/officeDocument/2006/relationships/notesSlide" Target="/ppt/notesSlides/notesSlide14.xml" Id="Rcb54b269c46f40d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82d22f91c4dcb" /><Relationship Type="http://schemas.openxmlformats.org/officeDocument/2006/relationships/notesSlide" Target="/ppt/notesSlides/notesSlide15.xml" Id="R5efa600c63044b3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Single Agent</c:v>
          </c:tx>
          <c:spPr>
            <a:solidFill xmlns:a="http://schemas.openxmlformats.org/drawingml/2006/main">
              <a:srgbClr val="D7DCE3"/>
            </a:solidFill>
          </c:spPr>
          <c:cat>
            <c:strLit>
              <c:ptCount val="4"/>
              <c:pt idx="0">
                <c:v>Precision</c:v>
              </c:pt>
              <c:pt idx="1">
                <c:v>Recall</c:v>
              </c:pt>
              <c:pt idx="2">
                <c:v>F1</c:v>
              </c:pt>
              <c:pt idx="3">
                <c:v>Decision accuracy</c:v>
              </c:pt>
            </c:strLit>
          </c:cat>
          <c:val>
            <c:numLit>
              <c:formatCode>General</c:formatCode>
              <c:ptCount val="4"/>
              <c:pt idx="0">
                <c:v>36.36</c:v>
              </c:pt>
              <c:pt idx="1">
                <c:v>70.59</c:v>
              </c:pt>
              <c:pt idx="2">
                <c:v>48</c:v>
              </c:pt>
              <c:pt idx="3">
                <c:v>50</c:v>
              </c:pt>
            </c:numLit>
          </c:val>
        </c:ser>
        <c:ser>
          <c:idx val="1"/>
          <c:order val="1"/>
          <c:tx>
            <c:v>MergePilot</c:v>
          </c:tx>
          <c:spPr>
            <a:solidFill xmlns:a="http://schemas.openxmlformats.org/drawingml/2006/main">
              <a:srgbClr val="1769E0"/>
            </a:solidFill>
          </c:spPr>
          <c:cat>
            <c:strLit>
              <c:ptCount val="4"/>
              <c:pt idx="0">
                <c:v>Precision</c:v>
              </c:pt>
              <c:pt idx="1">
                <c:v>Recall</c:v>
              </c:pt>
              <c:pt idx="2">
                <c:v>F1</c:v>
              </c:pt>
              <c:pt idx="3">
                <c:v>Decision accuracy</c:v>
              </c:pt>
            </c:strLit>
          </c:cat>
          <c:val>
            <c:numLit>
              <c:formatCode>General</c:formatCode>
              <c:ptCount val="4"/>
              <c:pt idx="0">
                <c:v>57.14</c:v>
              </c:pt>
              <c:pt idx="1">
                <c:v>70.59</c:v>
              </c:pt>
              <c:pt idx="2">
                <c:v>63.16</c:v>
              </c:pt>
              <c:pt idx="3">
                <c:v>40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C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C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1827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8FA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667085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7F8FA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62A8D6-8F0F-47AC-B139-4664D5A0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DB7D1-A762-40C7-8C6C-372825DD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MERGEPILOT · 复赛更新方案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3A5D783-93A6-4F89-887A-F6E73C5D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47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让多 Agent 协作</a:t>
            </a:r>
          </a:p>
          <a:p xmlns:a="http://schemas.openxmlformats.org/drawingml/2006/main"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进入确定性交付控制面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F0CD4-6BA5-4C3E-8489-4F63E6FD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可回滚 · 可审计 · 可复算 · 失败闭合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A5535-5DF4-46D9-AA1B-B123ADA3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448050"/>
            <a:ext cx="1352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12FB2-02B5-4D84-8332-65E52BA0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PRE-RELEASE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15C38-E3E4-4602-914E-63BDEB3B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47662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AgentTeams Runtime   Policy Gateway   6 Skill DAG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8a669248848ec"/>
          <a:srcRect xmlns:a="http://schemas.openxmlformats.org/drawingml/2006/main" l="0" t="7" r="0" b="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742950"/>
            <a:ext cx="4324350" cy="4819650"/>
          </a:xfrm>
          <a:prstGeom xmlns:a="http://schemas.openxmlformats.org/drawingml/2006/main" prst="roundRect">
            <a:avLst>
              <a:gd name="adj" fmla="val 2203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E0EE8-CC33-44E3-BABA-620BFA65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5562600"/>
            <a:ext cx="43243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C1AA7-DB56-459B-B880-CDDCBB91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6578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 E2E 投影 · 只读运维控制台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DDB8-66D7-4EC2-97BB-2564F930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v0.1.0-preview.3  ·  commit 379744d</a:t>
            </a:r>
          </a:p>
        </p:txBody>
      </p:sp>
    </p:spTree>
    <p:extLst>
      <p:ext uri="{BB962C8B-B14F-4D97-AF65-F5344CB8AC3E}">
        <p14:creationId xmlns:p14="http://schemas.microsoft.com/office/powerpoint/2010/main" val="16604280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6FAB80-82EE-4694-B563-3A0949BC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4679E-775A-4780-93F1-F9F2B540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架构演进</a:t>
            </a:r>
          </a:p>
        </p:txBody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946955D5-407D-43F2-9565-411F9314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初赛设想，已收敛为可验证系统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7CD39-14E5-4E5F-8F90-D792FC75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7B795-8C89-4B58-A3B7-FFF2EE98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0284C-955C-4F1B-B71A-E953F04D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CB83C-B5C6-4316-86C3-AA7E6744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初赛概念模型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548D7-89A5-4B82-9AEE-BC1AAEF6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复赛工程实现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591FE-C53E-40BF-BFB9-95C4B04B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个逻辑角色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0BE00-6710-41F8-8BC8-05592ABB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171700"/>
            <a:ext cx="1181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BFB89-3ECD-4136-90C2-1E4A26FF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4 个运行时 Agent · 6 类职责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90A29-2E37-49E3-855E-D0B94FE2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6098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8E25A-8485-49B6-8CA3-B89A29C5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194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 handoff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B4753-1A4E-408B-BBB3-768621E8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895600"/>
            <a:ext cx="1181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1917F-748D-4D11-B7AF-E6181450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194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 状态机交接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BAB22-7A5D-45A1-870D-14B9B9C0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3337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802F28-5103-4E18-A909-6F23795E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07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初赛旧称（不沿用）：MCP sidecar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DB90ED-38F6-49A6-AA1B-EFF2070F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3619500"/>
            <a:ext cx="1181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29F10C-3799-4166-A811-09B6CF4A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433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 隔离服务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3DC047-E0E8-4A9D-9A09-236D8352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0576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42AD19-A84D-44E0-8DB7-B2AE9390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初赛旧称（不沿用）：可观测侧车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8A5E59-7D2E-423B-AB1D-E166F690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4343400"/>
            <a:ext cx="1181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62DCBB-8DCC-4D46-A6CF-F3FD4DF8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672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审计与可观测平面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69F0F4-ACDC-4A61-BA27-BDB70A01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7815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57BDBA-6BFD-41FE-A080-E9B779B3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手工拼 Demo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5554F3-726B-4256-94FC-D37F54AC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5067300"/>
            <a:ext cx="1181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F1DC20-70B1-4560-A50F-D85C3D02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911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包 + 只读控制台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28FCF-5D62-41CF-8387-E8B45C92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55054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535908-EE5A-40C1-B5FC-04E78D46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5829300"/>
            <a:ext cx="2667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990975-45BB-4EC7-A842-C140B384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工程收敛，不是功能缩水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646244-2DD7-4F50-8E30-DDBED003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8578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减少无收益的模型交接，把确定性职责下沉为 Skill 与状态机。</a:t>
            </a:r>
          </a:p>
        </p:txBody>
      </p:sp>
    </p:spTree>
    <p:extLst>
      <p:ext uri="{BB962C8B-B14F-4D97-AF65-F5344CB8AC3E}">
        <p14:creationId xmlns:p14="http://schemas.microsoft.com/office/powerpoint/2010/main" val="807836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1A5EF-7E1A-4F7B-968A-5494AA3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2347F-93A8-4A71-892F-83000629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问题与价值</a:t>
            </a:r>
          </a:p>
        </p:txBody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A4E017DB-E44D-4A9C-A120-C6649D55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 Agent 难在控制，不在生成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AB21D-F4F7-4FA6-A4C5-51EE5B0D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ED31D-F97B-4190-9056-42CD7433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31584-EC43-4C05-81BC-5CBA8146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9D66E-840D-4601-A2BF-5084376A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AB87C-EC67-474D-A26C-8F12F0D8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288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交接失控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77CE0-1F84-48FE-8E85-6FB7C600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669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乱序 · 重复 · 超时 · 进程崩溃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98458-3184-4861-B5E2-344C1BFA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438400"/>
            <a:ext cx="10153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ECF63E-599E-45A1-8F90-05EB0995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C1D5F-AEFF-414B-9F1F-0D2E06EA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289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权限失控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E0E30-D63E-44EB-88F3-E922903E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670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Worker 接触 PAT · 高风险写入缺审批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69C22-EE45-485B-9082-C2845ED9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38550"/>
            <a:ext cx="10153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3DC76-6305-4DF5-A1B2-7310151D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B76CB-E73E-45C5-9E57-9B22EDB7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证据失真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939CF7-F5C2-441B-B8D5-78EBE46C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672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成功截图无法证明路径、状态和清理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B492E-45F8-47F3-A0D8-3DB5F778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838700"/>
            <a:ext cx="10153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BD67C-3C26-4A80-B659-94C9C210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5486400"/>
            <a:ext cx="1019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8D2A52-E32E-48A3-8AE3-54583FA9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673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MergePilot 的答案：语义决策交给 Agent，确定性治理交给 Controller / Gateway。</a:t>
            </a:r>
          </a:p>
        </p:txBody>
      </p:sp>
    </p:spTree>
    <p:extLst>
      <p:ext uri="{BB962C8B-B14F-4D97-AF65-F5344CB8AC3E}">
        <p14:creationId xmlns:p14="http://schemas.microsoft.com/office/powerpoint/2010/main" val="8748891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7EAA26-11E1-4AD7-87A0-2E19CD37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C5390-A9E8-46DA-B98A-2B28375F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总体架构</a:t>
            </a:r>
          </a:p>
        </p:txBody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B5423D25-1915-4565-B74E-E687EBD6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一条 PR 链路，三层责任边界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73664-2684-4169-9A8E-182C4F8A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A4B7D-CE1B-4176-9A81-7762338C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0A380-D47B-4047-8257-7D09D6A1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5A2B3-B852-47D8-AB50-23B7CE5A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2150" y="26479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1DC01-F3DE-48AB-8517-0B82DE60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26479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FDCC04-32C7-4CC0-A95B-D48EE46D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6479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95BED-982C-4C57-8419-74D907B9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0" y="26479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154E6-E664-43D0-97CF-A6D32B1D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26479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B665C-453C-4828-8A64-5E42D15B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F4F90-7773-4E43-A633-BC604D46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PR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6270F-866B-4FE7-BDB8-E85906CC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6486A-C55D-4E0D-950B-BDB01156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34FCC-0155-4FA8-8E5A-DEA61D6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5681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08AE44-741F-47CA-9A46-7BB463E6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状态权威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DA0DCA-D94B-4AD8-9953-3200FADB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4815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4F7FA"/>
          </a:solidFill>
          <a:ln xmlns:a="http://schemas.openxmlformats.org/drawingml/2006/main" w="9525">
            <a:solidFill>
              <a:srgbClr val="0D99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4D67BF-80F5-4FB2-BE22-2CFC675E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5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AgentTeams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60D5D2-FA81-430F-9C85-AE77FF1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语义协作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C5E86F-37EA-476A-8364-0D5B8FFC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0EF4EE-1BE8-4D00-92C2-DD8BD3ED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Skill DAG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18974-6A54-43ED-AE5C-D191FF04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确定性执行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C94C7-EED7-4049-A214-F0EFF3BB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677933-BE33-43A5-8CD0-2F66263E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5681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</a:t>
            </a:r>
          </a:p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BD4CC2-0440-4524-A8F5-21A81123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授权决策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25CC32-E45F-4A7A-B1BC-B0EF5338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2171700"/>
            <a:ext cx="1504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3C0E0F-7772-4112-8A7D-2BACFA4C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05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10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B2047F-081C-44B1-9BFF-5E481309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28900"/>
            <a:ext cx="123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5C4C32-B0D2-491C-B097-4A594250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状态与证据平面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FE8524-EDD0-4FC0-8632-77863440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4438650"/>
            <a:ext cx="2400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C171A7-5228-4444-B35D-374383FF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B2E987-6495-4BDD-98B7-44130BC9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 · Outbox · 审批 · 审计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503D9F-817A-4332-895F-751952B8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438650"/>
            <a:ext cx="2400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4F7FA"/>
          </a:solidFill>
          <a:ln xmlns:a="http://schemas.openxmlformats.org/drawingml/2006/main" w="9525">
            <a:solidFill>
              <a:srgbClr val="0D99B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F183FD-BF2C-4B6F-9C37-CD20037A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E139C5-A3F7-4036-95CE-A30D7422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101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8040FB-AE48-45EF-AE25-8A5CA829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438650"/>
            <a:ext cx="2400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A3EC1F-6622-4497-99B8-EB4DE772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101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E6E34E-F607-4DEA-8331-523B7287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101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配置 · 对象证据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E9948E-1234-4022-8A02-CB9D7181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3950" y="4438650"/>
            <a:ext cx="2400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E46692-CD0D-4043-8040-46F0DDD8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101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178233-3B7A-480B-93DB-22A28ECC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0101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关联链 · 本地采集</a:t>
            </a:r>
          </a:p>
        </p:txBody>
      </p:sp>
    </p:spTree>
    <p:extLst>
      <p:ext uri="{BB962C8B-B14F-4D97-AF65-F5344CB8AC3E}">
        <p14:creationId xmlns:p14="http://schemas.microsoft.com/office/powerpoint/2010/main" val="13184280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5071E2-7DFC-41A6-A767-899EEB47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05321-F923-4C41-A2B3-DF90ABCF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身份与边界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FCCE1CF-BF54-4923-82DC-C698213C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四个运行时 Agent，六类职责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0CB6D-EFB9-411F-A6B8-9F10254F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9248B-405B-4AC8-8E2B-28C90E2D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E29ED-1BF3-44B6-9CC7-331E2595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72756-5280-4F12-ABD6-B3B26941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924050"/>
            <a:ext cx="22288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9F523-FABA-42C3-92E7-0424BAC1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924050"/>
            <a:ext cx="22288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A6360F-5AC5-44AC-ACE7-ECE7A7A8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Manager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E743F-3801-4894-9699-11307662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 · 路由 · 收口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EC0EE-E7CA-4617-B016-26052282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1924050"/>
            <a:ext cx="22288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9B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FC62D2-39D4-4003-9BEA-F63B0E67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1924050"/>
            <a:ext cx="22288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9990C-D9A0-4996-B169-5D495F2E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15858-5494-40EF-866A-50704890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24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审查 · 风险判断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E2AD7-31FD-4121-ABD5-F0E3543E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924050"/>
            <a:ext cx="22288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09489-C7BF-4E53-84B9-5D93DF4B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924050"/>
            <a:ext cx="22288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7566C-9994-4696-85B5-06434A6C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Fixer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80E3A-7132-4AD0-B68F-95C5972C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24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修复 · 受治理提交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46B36-2984-4C61-AC46-6D5731E0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1550" y="1924050"/>
            <a:ext cx="22288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83DF31-04AD-42F5-B58F-909D632A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1550" y="1924050"/>
            <a:ext cx="22288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6A6100-E2C5-4FC8-87BA-85D7BDB7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09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98F51-074A-4463-8A17-73208A3A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24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复测 · 回滚判定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92E0B-A344-4150-945D-D589F266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000500"/>
            <a:ext cx="48768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06A0FD-FCAD-489F-8216-C0DE5C2A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Triage · Skill Stage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287A82-2F46-4823-A054-3ECEAF3F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diff-parse + risk-classify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D63E7-E7AC-471C-BE6B-61951022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000500"/>
            <a:ext cx="48196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A27B07-48B7-4EE3-BBBF-FEEFE2D8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00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Fix Planning · Planning Stage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55912D-9CAE-4F34-AAEE-76EDE0A2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4820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Fixer 规划阶段 + Controller 状态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AA1D80-AC7E-44D4-A627-C204B263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6250" y="5638800"/>
            <a:ext cx="3619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5E76F2-8361-4513-8B50-C97F68BC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78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不为保持数字新增 Agent</a:t>
            </a:r>
          </a:p>
        </p:txBody>
      </p:sp>
    </p:spTree>
    <p:extLst>
      <p:ext uri="{BB962C8B-B14F-4D97-AF65-F5344CB8AC3E}">
        <p14:creationId xmlns:p14="http://schemas.microsoft.com/office/powerpoint/2010/main" val="10649931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5840C5-D038-42AA-9A40-DCD0FC5A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A73C56-B113-4CAF-8B4B-FFAAFF78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六类工程能力</a:t>
            </a:r>
          </a:p>
        </p:txBody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4E662FD4-1D67-4893-82C4-DFCA94AE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Skill 让工程动作可测试、可超时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E69D7-00E6-4862-8A5B-209D0459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4E8DF-0043-4372-ADC1-06CC0539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41746-3F35-48ED-B396-825DF86A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E4825-8B10-4656-BF7F-66F29031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DC168-3238-422A-8634-E05AECF0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66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diff-parse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D2C1C-7516-46E9-A7D3-969F5D17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3241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C3DF5-470F-44F3-949F-297CD2FC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76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解析Diff结构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04A70-99DF-4B8B-AC58-4DA2AB03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859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4B783-A85B-44A6-9A2D-30D2A549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66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risk-classify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12FC2-0FC1-43C4-807A-EE40367E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23241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0EA38-2447-456D-B7EB-1133A430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分类风险与路径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98676-4349-4B51-877A-536B2394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859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5A912-E58E-4F89-A690-511EA84C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66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sast-scan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DA74BA-A6ED-4773-BD53-A042BE15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23241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88E0B-E4B9-4243-A46C-6ED065EE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76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确定性静态扫描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C3972-7623-445D-B4C9-E858FCB0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1C3EB2-ABEF-4FDF-A78E-D8D533F9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test-runner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A38D9A-8795-40B2-BC56-FC62DBA9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766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E8C29-480F-40D6-967A-1C717261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290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有界测试执行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A1A13-D8D8-4D3E-B411-3DC9F4CD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828275-CF21-4C80-A899-2B15C395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pr-lifecycle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5023C2-6280-4F30-BD3E-18918FB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6766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11DC92-1B33-4ED6-841A-E1DD78B2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8290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PR创建/合并/回滚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26769E-A9FA-46CA-895D-B8310EBC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B8C1C9-C69D-4AD3-8C26-CAB84D64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case-retrieval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EE633D-37DD-4467-BCCA-323471E1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36766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2DADEA-97D3-40A0-99C5-6E4A3AE4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290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pgvector案例检索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A137D6-6952-42C9-B95B-BAC69F64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953000"/>
            <a:ext cx="101727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1065DE-02B4-46E2-8743-2E93CAD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00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Schema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F2D13B-CB95-454F-B462-488BD88F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00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Deadline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73AF7D-DB02-4C12-B1FC-54DDCCC8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00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Atomic output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14EC45-7A42-4D0E-B901-062BDDD9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00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A1A554-53F2-44C8-BF3C-8B8DBC3F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00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</p:spTree>
    <p:extLst>
      <p:ext uri="{BB962C8B-B14F-4D97-AF65-F5344CB8AC3E}">
        <p14:creationId xmlns:p14="http://schemas.microsoft.com/office/powerpoint/2010/main" val="1907648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70B5C1-650D-442A-8ADF-6CAAA54F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F68AE-88EE-4A98-8049-723CD64B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Workflow Controller</a:t>
            </a:r>
          </a:p>
        </p:txBody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49B5AD33-D78A-4179-B943-356D1CFA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交接由状态机推进，不靠猜测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BDA64-76C2-416E-99EF-9ABF8D80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B8DA2-B069-44C4-8780-E6ABD5BB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B9B9E-441C-414E-9199-32638A46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BF34B-A0FB-4070-8AD4-E8FC9D46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2647950"/>
            <a:ext cx="590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9E645-6A45-4831-BBBF-0B6A8507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66950"/>
            <a:ext cx="18669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C5140-7884-4888-A026-3778FE0A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FE87F-B093-408E-8791-87E1B78B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337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3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A0997-EEAE-4C8E-9CE7-EF735F2D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2647950"/>
            <a:ext cx="590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FF87CB-E25F-49A5-A753-033EE904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2266950"/>
            <a:ext cx="18669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2BB39-F9BB-4327-980A-E1BB934E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05075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FIX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C0B2C6-3680-4A27-8AC3-483C214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337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3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E7CE5-BF2B-4D05-B7B3-11E42A2A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647950"/>
            <a:ext cx="590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11CB3-36F2-4DC1-AEE5-723105AF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2266950"/>
            <a:ext cx="18669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1FA74B-BFC9-4226-BDCA-DEA3DAF4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05075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B5F18-CD4A-46FC-9B98-1C1394B9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337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3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5518A-744D-46B0-AA08-34C0BD5E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266950"/>
            <a:ext cx="18669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9525">
            <a:solidFill>
              <a:srgbClr val="A66A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20B520-1BE2-4124-B4CA-E5CDC4E7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05075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93A00A-0FE9-4CAC-8A10-1D81D616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9337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超时 / 漂移 / 待审批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84C0E5-0B45-4FD1-B0DF-7A22A97E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Outbox：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派发可重试，状态推进只发生一次。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CAS：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late event只有命中当前状态与revision才能恢复。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Crash recovery：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从磁盘journal与数据库事实恢复，不依赖内存。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480599-CFD1-483A-858C-33C75F74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9650" y="3848100"/>
            <a:ext cx="2266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50D048-F202-4101-BF05-99C23A6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957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唯一状态权威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4FEA91-C2AF-4C08-A687-04E7D8F3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09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runtime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 durable state owner</a:t>
            </a:r>
          </a:p>
        </p:txBody>
      </p:sp>
    </p:spTree>
    <p:extLst>
      <p:ext uri="{BB962C8B-B14F-4D97-AF65-F5344CB8AC3E}">
        <p14:creationId xmlns:p14="http://schemas.microsoft.com/office/powerpoint/2010/main" val="4809558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E66349-F6B8-4BCE-8CED-155B3AB1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63A87-6609-408B-8F7B-DF0528FF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</p:txBody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2D8CE436-DCB1-469F-98D4-241A461E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 被锁在 GitHub MCP 隔离服务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63E7F-C601-464C-88D5-747BACE9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DF576B-7676-46A2-8102-7487CC4B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30601-ABC7-4BD8-9D30-E9A2BC19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9E7AA-922A-4177-A2AC-18FD9D0D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6860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3A2F7-1040-41EE-8C9A-A65459FD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0" y="26860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04FB4-8907-433E-BA6B-376A23DD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6860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553E3-8439-4657-80AF-C0D36F24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190750"/>
            <a:ext cx="2000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9BD1A-304C-46E3-B04F-DCBDE0B0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0B961-BA11-40B0-93F8-C8E9AA40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token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零 GitHub PAT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E72BF-B593-421F-8F3C-C04C370E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67100" y="2000250"/>
            <a:ext cx="22479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33084-6B79-4246-B76C-56665362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336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 Gateway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3B71BC-C730-4AC8-9559-E950CC4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19812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仓库 · 工具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方法 · 路径 · revision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5FF86-4395-46FD-9422-1B7D66E6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90750"/>
            <a:ext cx="23622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2B539-A1D1-4262-AD83-3F5FA9D6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0B8E7A-7E21-4988-AD85-F197A76D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479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唯一 PAT 边界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4A2A8-A14F-4B6D-9E89-3E1407F8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190750"/>
            <a:ext cx="1790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83F938-9FA1-4421-AACF-82ADEFC2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EE7B6-1535-49CD-B37C-2E3F772E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47950"/>
            <a:ext cx="152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受治理写入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7AA93C-546E-4E8E-A89A-52387320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4000500"/>
            <a:ext cx="1181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B44EC7-A9B8-4FA8-B493-7BADE7E0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19550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DENY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AF4A67-27B5-4F5C-8664-8AE4D273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290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保护路径 / 错 revision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929E5-3B05-4412-BFB2-2ADC79F2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4476750"/>
            <a:ext cx="1181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9525">
            <a:solidFill>
              <a:srgbClr val="A66A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9E8754-1344-4413-9BA8-CB45C9D1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495800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HOLD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7D9B51-CA25-449F-9406-BEE125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053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高风险写入等待 L2 审批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B5363A-F7B3-457A-9038-40927B03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4953000"/>
            <a:ext cx="1181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1098A8-7E31-4A9F-BCD7-743ACA88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972050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FCD84C-507A-4E51-9E4C-F0D4D276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9815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只执行通过策略与 revision 绑定的动作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266CE8-E2F7-47B9-AB7B-015561C7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5657850"/>
            <a:ext cx="10744200" cy="4000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140660-2625-4DF5-B059-116B3212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53100"/>
            <a:ext cx="1040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Worker 不持 PAT  ·  PAT 不进入日志、PPT、Trace 或 Agent 上下文</a:t>
            </a:r>
          </a:p>
        </p:txBody>
      </p:sp>
    </p:spTree>
    <p:extLst>
      <p:ext uri="{BB962C8B-B14F-4D97-AF65-F5344CB8AC3E}">
        <p14:creationId xmlns:p14="http://schemas.microsoft.com/office/powerpoint/2010/main" val="2074767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040781-1B70-4169-81CE-3B33FC4C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70B4E-3DAB-4DF4-BAEE-095F1E12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数据与证据</a:t>
            </a:r>
          </a:p>
        </p:txBody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BF633C38-4AF5-4E2A-8904-AD59632E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审计与可观测，不是一个“侧车”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EA87E-9EE5-408E-9DB8-B7D46702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2654D-0ACD-409E-AFA3-0D05D4E5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E7D10-89E7-4686-A556-133B5F09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BF37C-41C6-46D0-A67A-20725F13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790700"/>
            <a:ext cx="1143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9A4D5-2AAE-4224-B810-2C97572E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2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52AA9-DED6-4689-9342-F5625F2A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4785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任务状态 · 阶段 · Outbox · 审批 · 结构化审计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80A06-3307-4EA7-BA98-3CD7C6D7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924050"/>
            <a:ext cx="2419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EEB4BF-1D25-42F6-B4F4-5F9DB664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431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已实现 / 已验证（限定环境）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DDAE0-3CB2-48FD-9BC1-B3DEC567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38125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EFF29-2CC3-46A7-A6D2-80E4802C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705100"/>
            <a:ext cx="1143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96BFD2-BCA4-4BF3-9A05-3D1F8232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177854-4DCB-4C2C-B899-D91262E9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 · 相似度结果 · advisory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9B3123-5C08-4900-8A1F-D0F67F07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838450"/>
            <a:ext cx="2419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7FA"/>
          </a:solidFill>
          <a:ln xmlns:a="http://schemas.openxmlformats.org/drawingml/2006/main" w="9525">
            <a:solidFill>
              <a:srgbClr val="0D99B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50B67F-D3C6-40DF-8588-DBD9955C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已实现 / 离线验证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B1EDC5-08C3-44FD-8173-223049D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29565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35472-77B8-45D4-A13F-4FC59CDE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619500"/>
            <a:ext cx="1143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14E938-8B0A-4361-91E9-F274020A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C4800-B141-4C62-80E7-7C9F5CA0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7665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方向感知配置 · 对象与证据持久化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37A484-F39A-48E9-9183-41F74BF9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752850"/>
            <a:ext cx="2419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6CFDB5-A864-4BBF-B70C-7F69B20F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719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已实现 / 本地真实验证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B9343D-9987-4AC9-84F2-A7D27A1F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21005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0EA4C-C9C6-4433-B91E-7874A15F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533900"/>
            <a:ext cx="1143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3F0284-6917-40DC-8E2F-36C5A6A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72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51DF0-C1B5-4A72-A34E-F500E4FC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9105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Controller · Gateway · Skill 关联链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C26EA0-4DF5-44B7-86F1-CA78E0B3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4667250"/>
            <a:ext cx="2419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BCAC77-0844-42EB-83FA-22DC22DF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本地 collector 已验证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1F3DB3-CDFF-4FC7-B9B9-48D0A596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512445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9CB619-EA58-49F4-B35A-7D307CB8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5600700"/>
            <a:ext cx="1057275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F836C1-4FAF-426A-9109-424B1296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24525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SLS 云出口：规划 / 待接入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9BB270-47C8-4ABB-AE55-490D78A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724525"/>
            <a:ext cx="600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database_verified=false   audit_producer_contract=NOT_VERIFIED</a:t>
            </a:r>
          </a:p>
        </p:txBody>
      </p:sp>
    </p:spTree>
    <p:extLst>
      <p:ext uri="{BB962C8B-B14F-4D97-AF65-F5344CB8AC3E}">
        <p14:creationId xmlns:p14="http://schemas.microsoft.com/office/powerpoint/2010/main" val="14240251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0706C9-8272-4068-AC43-0F9B852C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D3473-2E5D-44E3-8E2E-B3DF54B2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8F4DEE5C-3945-415F-A153-A61EFFB3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失败先停住，再依据事实回滚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ADE75-4062-4465-B7D9-05BB580B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2E1A0-2D5F-459B-925D-32BB30B0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0B057-A484-4040-BE6C-B0725B2C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98E669-2CB6-4483-AA9B-8D465D1A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00250" y="25146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EF06B-96CB-496E-958F-57EFFF4C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779A1B-D82E-42CB-9C68-746AC79F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  <a:p xmlns:a="http://schemas.openxmlformats.org/drawingml/2006/main"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FAIL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49110-C806-4783-A2CF-33F6FDB3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4300" y="25146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40A00-B4B0-4959-9142-247B94F4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030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9525">
            <a:solidFill>
              <a:srgbClr val="A66A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AA5C9-B5BB-429C-9544-F126A0A5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B2A8AB-0439-479D-AFB2-4FAEE834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25146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E098BB-52BF-4D95-9005-3F2C37E0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00952C-8CAF-47BC-8B22-4DFFC02F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44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REVISION +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APPROVAL CHECK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F39BAC-A6A6-4ACE-A572-7DA03E76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5146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41891E-2E03-4D75-AE20-79F5E260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4CDA6-7E7E-4BBB-A1B5-0272BDF7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REVERT</a:t>
            </a:r>
          </a:p>
          <a:p xmlns:a="http://schemas.openxmlformats.org/drawingml/2006/main"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CHILD-RUN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05D6D-A689-41F3-9DC8-88779A1B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25146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F629AE-0842-45A0-B810-0BFA1FC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0A7DE-82DB-4EA4-AEB1-59AE1CD5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RE-VERIFY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19230-3B3D-42F8-A78F-2185527B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095500"/>
            <a:ext cx="1524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47CDF5-D703-4C1F-8905-8F36A9B7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43150"/>
            <a:ext cx="1371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RECOVERED</a:t>
            </a:r>
          </a:p>
          <a:p xmlns:a="http://schemas.openxmlformats.org/drawingml/2006/main"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或 HOLD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6BF30E-3C24-492D-811D-14221D4A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666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先记后写：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WAL / journal在mutation前持久化。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精确owner：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锁、receipt、容器和网络按归属逆序清理。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保留主错误：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rollback失败不会覆盖首个稳定错误。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CDC77B-783E-4DF6-A3E6-C05BE065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3886200"/>
            <a:ext cx="3143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74FDC1-7E90-4B30-8C11-5B2C9E6B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3385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783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任何读取失败或 revision 漂移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4AF83C-C50F-4554-9DA4-F6FB8759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67250"/>
            <a:ext cx="2686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不猜、不重试盲写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直接 HOLD 升级人工</a:t>
            </a:r>
          </a:p>
        </p:txBody>
      </p:sp>
    </p:spTree>
    <p:extLst>
      <p:ext uri="{BB962C8B-B14F-4D97-AF65-F5344CB8AC3E}">
        <p14:creationId xmlns:p14="http://schemas.microsoft.com/office/powerpoint/2010/main" val="14643586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3331B9-61DB-4DCF-BE38-0BB245DF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95904-55E7-479D-8CF2-73357207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真实 E2E 证据</a:t>
            </a:r>
          </a:p>
        </p:txBody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332FB69F-B89C-4D5C-8559-E1F622D1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run35：同一运行收敛到 complete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D3486-42DD-4FF3-BB11-94F5BDD3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5D925-89E0-4AF3-A88E-E54CBD95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3CC53-4128-42EE-B3EB-9858BF19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6F2E0-E000-42EE-9EFD-B63D540F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42050-A7C7-4F2E-8203-F9195F66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阶段完成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28664-EB96-4D0B-9CE6-BA24D970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847850"/>
            <a:ext cx="95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4E168-75D6-468D-90AB-57DBF89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16 / 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C7BC3-9026-4FF7-ADF1-6BFDB704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前置门禁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AD2E4-9842-46A7-8EE9-1C771B18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1847850"/>
            <a:ext cx="95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FEA09-8AC3-4F15-BB7E-8888F9EB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6 / 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617C0-ACC5-4F59-9CB9-D9B1B5D1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路由边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D81E0-4430-4963-9E93-02486697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1847850"/>
            <a:ext cx="95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8B99B-84D9-4ED1-83E6-2DDCE7A6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097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1404D-FA05-4F77-8158-8369334B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 + Matrix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C30F33-9FFC-4BED-BA35-A7EFD6BD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E9D4E-3310-4D11-8F06-2233461E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77E02-8C62-49F7-B849-634D048B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859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E63185-721B-426A-A3E6-CD60929A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网络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EDEDBC-837A-431B-A95D-38A3300D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862D91-289E-4459-B1AC-19C5834A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容器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567B07-6C95-4E26-AE6A-1FCD1F1D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84D066-AE5C-4B18-A8C7-D9A87B89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防火墙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52BAA-8BFA-44E6-889C-82C82DF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9E6A3E-ACB5-4F63-8E2B-28735058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中继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6E93B-3EE2-403A-8C1B-1FA5B0DD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E08FF6-0D58-4CA3-AF15-37106B84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C2BDD8-EFA1-419F-9284-5FD35DF4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953F7A-42C0-4E63-A8B9-5FD0883A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F98B63-BBCD-4776-A530-B7B0B31F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151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B3B0F9-B1CB-4290-97BC-D324B303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41C2CA-EBE0-4D12-8993-C1145CA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B7D923-3B78-4411-AA56-024F5A60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68D01D-13EE-4983-9406-4449EB4D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92081B-3FCA-4F22-B593-A1E9FC5A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3A8E3D-42CE-41F7-AF7C-0B2780A6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297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0D513F-A4A4-4197-AC83-0BCECA5A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FE079B-4463-430B-B5BC-8B7F40AC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209E03-9DF1-4186-AD36-44FE68A0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Matrix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678E8B-623E-468C-BBAF-29B6332B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06100" y="3486150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9A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4F1583-EC91-4275-A229-9799DD19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147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FD4181-A603-4F66-877B-7C4EE9E7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629150"/>
            <a:ext cx="10572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05C137-0E29-4732-8C46-130E0E0F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577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transport_profile = wsl-user-relay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DF1579-56C5-49D5-8BB0-CC4A5F9D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57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direct_routing_verified = false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75CCD9-9DD4-4598-8518-F4921AE8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19700"/>
            <a:ext cx="998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六条边逐边验证通过，不等于内核直连路由已验证。</a:t>
            </a:r>
          </a:p>
        </p:txBody>
      </p:sp>
    </p:spTree>
    <p:extLst>
      <p:ext uri="{BB962C8B-B14F-4D97-AF65-F5344CB8AC3E}">
        <p14:creationId xmlns:p14="http://schemas.microsoft.com/office/powerpoint/2010/main" val="8637279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79D6E-5642-41BC-8C8D-CAC59409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69997-EB87-44C0-8BB3-55B92BAE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只读运维控制台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33A059BD-F4EA-4238-942D-11B37603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一个屏幕判断 Complete、Failed、Stale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D48C5-FEEE-423C-ABB5-31D291AC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6C6C1-D0BF-4985-85BB-1DCF9976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7F56C-5D11-46BB-91E7-DE674634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9c4181c704a8b"/>
          <a:stretch xmlns:a="http://schemas.openxmlformats.org/drawingml/2006/main"/>
        </p:blipFill>
        <p:spPr>
          <a:xfrm xmlns:a="http://schemas.openxmlformats.org/drawingml/2006/main">
            <a:off x="2292991" y="1638300"/>
            <a:ext cx="3415017" cy="4286250"/>
          </a:xfrm>
          <a:prstGeom xmlns:a="http://schemas.openxmlformats.org/drawingml/2006/main" prst="roundRect">
            <a:avLst>
              <a:gd name="adj" fmla="val 1778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06638a87b4bdb"/>
          <a:srcRect xmlns:a="http://schemas.openxmlformats.org/drawingml/2006/main" l="0" t="25941" r="0" b="25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96200" y="1638300"/>
            <a:ext cx="3905250" cy="2438400"/>
          </a:xfrm>
          <a:prstGeom xmlns:a="http://schemas.openxmlformats.org/drawingml/2006/main" prst="roundRect">
            <a:avLst>
              <a:gd name="adj" fmla="val 312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AAA03-D3E9-4185-B649-14760BAC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426720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65F6A-AC68-4839-A4AC-E32D66BA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862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FAILED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2A679-FEB5-4316-81CB-BD4132C7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4815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首个稳定错误</a:t>
            </a:r>
          </a:p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失败阶段与路由边置顶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2F300-AD6F-479D-85C3-0EFED366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50482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9525">
            <a:solidFill>
              <a:srgbClr val="A66A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E697EC-7A7F-4D23-A387-A1502972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6730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STALE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F91546-6980-4EE0-BD72-DABAF2B7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2920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保留最后良好数据</a:t>
            </a:r>
          </a:p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年龄持续推进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C7059-313D-4329-A397-7FC5F4CE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GET-only · loopback-only · 无写操作控件</a:t>
            </a:r>
          </a:p>
        </p:txBody>
      </p:sp>
    </p:spTree>
    <p:extLst>
      <p:ext uri="{BB962C8B-B14F-4D97-AF65-F5344CB8AC3E}">
        <p14:creationId xmlns:p14="http://schemas.microsoft.com/office/powerpoint/2010/main" val="8059910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BAC884-9142-48CD-A245-75720F5F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CB562-7282-4F3F-A225-43D0BF09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11 + WSL2</a:t>
            </a:r>
          </a:p>
        </p:txBody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A3409120-8538-487B-A0E3-9CF9A8E8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已变成可安装交付物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78B0F-98DA-49CA-A72A-AD813F23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530DB-CCCB-49D6-BEBE-FA8D8770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FD7F0-36A7-4488-98B7-F884D837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B2DAE-2BE0-4AA4-AF86-00DCF1E0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288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3F97B-BADB-4DC7-8F72-9C8DE7F1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965D0-D94C-49A0-8402-5D47006F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CC2DD-B40F-4B27-A397-19645D8E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671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14B82-C98A-46F6-AB79-DC9E0225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B856D-DF98-44B3-8642-D515CB51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Install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F81C5-6BEB-4024-8CA1-D8246E08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72212-73EB-42FE-920F-FC3CAE69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6519B-DA83-4F93-8222-6F6E2B1F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Doctor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FBC30-D643-468D-9CCF-8C343CC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7649C-DE2A-4E71-8785-0282DE07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1769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B6FE9-CA33-4E3A-8353-9F88CDFB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B7B88-83FA-4D79-A107-DD032A25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4A6651-5D62-4714-A778-BC5C9645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794237-8314-404E-92F2-8E751FDE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D2BD2-7BB4-422F-801E-B23E720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114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8FCF2A-E98F-4FBE-A92B-5BC3CD90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C4E8E5-F51F-4F8B-9E0C-11D272FB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3F6B65-67E3-43EF-99DC-8AAB379A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1847850"/>
            <a:ext cx="1257300" cy="685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8FAB7E-878B-43D1-9BBA-D151223A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0574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Cleanup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15BC2C-2D18-49DF-BAE9-9ECF0DB5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冻结门禁 · 2246 passed / 20 skipped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179F96-A1A0-43EF-B99C-DE2129CE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94236-E2EA-4037-8B9D-1363D606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离线镜像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F204DD-7DF6-44B2-BB46-A94DAED6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1945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847.4 MB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D520EC-9D7B-4363-868A-17E410D9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OCI tar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60BC2F-E5CC-44A6-8A86-D33C071D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1945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200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E8765F-A51A-4A9D-B2DC-14E0155A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页面 / API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34D30C-9308-4173-89CE-A6860BEF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9CC0EE-4ABC-450A-8101-C70F8164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终态残留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A4B807-03C4-4277-81A5-2E1976D4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495800"/>
            <a:ext cx="1047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C57E44-D2CB-415E-BC81-E6DF70E4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743450"/>
            <a:ext cx="2876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80BD68-2361-4479-9195-A5BE8554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2876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SAME_MACHINE_ACCEPTED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D168FD-2B6F-4E5F-8C8F-B6E23C48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4743450"/>
            <a:ext cx="2362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9525">
            <a:solidFill>
              <a:srgbClr val="A66A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C2A106-4FAE-4AD4-B603-E46D98C7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762500"/>
            <a:ext cx="2362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EXTERNAL_BLOCKED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B9DDAD-5594-461C-BC76-555CCB36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81550"/>
            <a:ext cx="403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Pre-release · 非 Latest · 不声称 production ready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61ED23-D0F1-4879-B71C-71750AEE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checksum / image-set gate → load → doctor → explicit Windows loopback publication</a:t>
            </a:r>
          </a:p>
        </p:txBody>
      </p:sp>
    </p:spTree>
    <p:extLst>
      <p:ext uri="{BB962C8B-B14F-4D97-AF65-F5344CB8AC3E}">
        <p14:creationId xmlns:p14="http://schemas.microsoft.com/office/powerpoint/2010/main" val="8088833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0A4E3D-662E-4B34-AE4D-22004409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0258F-EF4A-4371-9EA5-0782403F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N=10×2 受控本地评测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30428AFB-D23E-4682-B136-3439019D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误报下降，但成本与校准仍需改进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995CC-A5BA-4F11-B519-19F985E8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3EE37F-C5E1-4ACA-A5BC-C5645787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6FA1B-97C8-404D-85B5-3F70CC43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90550" y="1657350"/>
          <a:ext xmlns:a="http://schemas.openxmlformats.org/drawingml/2006/main" cx="6667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b026ad2bcf45e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27F92-F885-4127-9450-F53D75C5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1809750"/>
            <a:ext cx="3619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149A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A8F34-CE12-4169-8E22-35141FD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38350"/>
            <a:ext cx="3086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225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FP  21 → 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04EB9-67DD-49FA-A355-8876C27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3365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主要改善来自误报下降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32829-1668-4887-9E6F-AE5130D2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3181350"/>
            <a:ext cx="3619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1E3"/>
          </a:solidFill>
          <a:ln xmlns:a="http://schemas.openxmlformats.org/drawingml/2006/main" w="9525">
            <a:solidFill>
              <a:srgbClr val="F28C2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56798-911E-4B25-9BBC-A498F6FB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308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Token  +32.95%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71576-758F-4B52-B530-1659A3A7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4810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API requests  +80%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A2301-6EFC-43D0-9755-62FF87ED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4552950"/>
            <a:ext cx="3619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88441-711B-4AE6-93B8-D7131F52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19650"/>
            <a:ext cx="3162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不能声明“多 Agent 必然更好”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6D634-E6A6-4AFE-8FB0-7C8FC3D6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19700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单模型 · 合成 fixture · 每组 10 例</a:t>
            </a:r>
          </a:p>
        </p:txBody>
      </p:sp>
    </p:spTree>
    <p:extLst>
      <p:ext uri="{BB962C8B-B14F-4D97-AF65-F5344CB8AC3E}">
        <p14:creationId xmlns:p14="http://schemas.microsoft.com/office/powerpoint/2010/main" val="6017644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EE9D74-A79B-4A23-839D-C1E0AD7A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66075-1D6D-4297-8DCE-9E35ABED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复赛交付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054E02A0-6B7C-4700-A52C-CD94BCFE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可运行、可证明，也明确未验证什么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F97BE-91E3-4769-8CC0-D1E6ECB2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3049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E20B8-844B-4733-A6CB-6358EAF7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59895-606B-4CA8-A88D-DAAE2B2E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9AA41-81D4-457A-8E2B-CEDEC497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本次交付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8ADAC-9E55-4B7A-AF1E-9D9908C2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6D7D0-D3B3-4951-9152-2E5D74C2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9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更新方案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C9E43-D858-4C23-B190-AF0D0329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193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PPT / PDF · 逐页证据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080A9-D3F5-4694-B577-516C55A1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C60B8-C0FB-43BC-83B6-22870216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71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C1915-9E2D-4EAB-8948-B275E553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00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preview.3 · 9 镜像 · checksum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7DA6B-5ECE-403F-981A-CFDB7B5B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4CA0A-7884-4492-8F2C-6D346193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CB613-9801-4B3B-AF88-ADADB974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814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现场脚本 · 录屏备份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9AA64-F683-43C5-B958-78F7CB5D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932F6B-10CD-417A-BACF-7B310C42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33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证据矩阵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B1C59E-AE54-4884-9DC9-FF3F9D81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5624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声明 · SHA · 测试 · 限制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81F4F-E6A8-4B9D-9725-A28F9F23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1714500"/>
            <a:ext cx="4552950" cy="3067050"/>
          </a:xfrm>
          <a:prstGeom xmlns:a="http://schemas.openxmlformats.org/drawingml/2006/main" prst="roundRect">
            <a:avLst>
              <a:gd name="adj" fmla="val 3106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B9971B-C913-4CEC-BBFA-ADEBF81A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574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下一步不是继续堆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EB282-054E-44FA-BEDF-617FB4EB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86050"/>
            <a:ext cx="3905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外部验收：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 Windows 11 物理机。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扩大证据：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多仓库、更大真实样本。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补齐出口：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SLS 云端可观测。</a:t>
            </a:r>
          </a:p>
          <a:p xmlns:a="http://schemas.openxmlformats.org/drawingml/2006/main"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安装与日常使用问题。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21F36-1EE0-48B8-832E-57EBE012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5391150"/>
            <a:ext cx="105537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43D3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BF256E-C6A8-489C-A52B-0878B1DB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1013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application / database / production / revision producer / audit producer：仍未验证</a:t>
            </a:r>
          </a:p>
        </p:txBody>
      </p:sp>
    </p:spTree>
    <p:extLst>
      <p:ext uri="{BB962C8B-B14F-4D97-AF65-F5344CB8AC3E}">
        <p14:creationId xmlns:p14="http://schemas.microsoft.com/office/powerpoint/2010/main" val="611507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2026-08-25T02:24:24.6490000Z</dcterms:created>
  <dcterms:modified xsi:type="dcterms:W3CDTF">2026-08-25T02:24:24.6490000Z</dcterms:modified>
</coreProperties>
</file>