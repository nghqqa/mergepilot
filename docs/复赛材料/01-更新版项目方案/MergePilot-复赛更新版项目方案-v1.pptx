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Single Agent</c:v>
          </c:tx>
          <c:spPr>
            <a:solidFill>
              <a:srgbClr val="D7DCE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11827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Decision accuracy</c:v>
              </c:pt>
            </c:strLit>
          </c:cat>
          <c:val>
            <c:numLit>
              <c:formatCode>General</c:formatCode>
              <c:ptCount val="4"/>
              <c:pt idx="0">
                <c:v>36.36</c:v>
              </c:pt>
              <c:pt idx="1">
                <c:v>70.59</c:v>
              </c:pt>
              <c:pt idx="2">
                <c:v>48</c:v>
              </c:pt>
              <c:pt idx="3">
                <c:v>50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E70-4581-BF7F-AA37FF12874A}"/>
            </c:ext>
          </c:extLst>
        </c:ser>
        <c:ser>
          <c:idx val="1"/>
          <c:order val="1"/>
          <c:tx>
            <c:v>MergePilot</c:v>
          </c:tx>
          <c:spPr>
            <a:solidFill>
              <a:srgbClr val="1769E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11827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Decision accuracy</c:v>
              </c:pt>
            </c:strLit>
          </c:cat>
          <c:val>
            <c:numLit>
              <c:formatCode>General</c:formatCode>
              <c:ptCount val="4"/>
              <c:pt idx="0">
                <c:v>57.14</c:v>
              </c:pt>
              <c:pt idx="1">
                <c:v>70.59</c:v>
              </c:pt>
              <c:pt idx="2">
                <c:v>63.16</c:v>
              </c:pt>
              <c:pt idx="3">
                <c:v>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E70-4581-BF7F-AA37FF1287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DCE3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7085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CE3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111827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7F8FA"/>
        </a:solidFill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667085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7F8FA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MergePilot解决的不是让模型再多写一点代码，而是让多Agent代码协作具备工程控制面。Agent负责语义判断，确定性Controller负责状态、交接、审批、回滚和审计。今天展示的是Windows 11加WSL2本地Preview，不是生产系统。</a:t>
            </a:r>
          </a:p>
          <a:p>
            <a:endParaRPr/>
          </a:p>
          <a:p>
            <a:r>
              <a:t>[Boundary] production_verified=false；不得称production ready。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https://github.com/nghqqa/MergePilot/releases/tag/v0.1.0-preview.3</a:t>
            </a:r>
          </a:p>
          <a:p>
            <a:r>
              <a:t>- .impeccable/review/wide.png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初赛按职责画了六个逻辑Agent。落地后发现Triage和Fix Planner更适合成为有Schema、deadline和失败闭合能力的Skill阶段，因此运行时收敛为四个Agent。我们减少了两次模型交接，但保留全部职责。</a:t>
            </a:r>
          </a:p>
          <a:p>
            <a:endParaRPr/>
          </a:p>
          <a:p>
            <a:r>
              <a:t>[Boundary] 初赛材料是历史快照，不回写当前能力。</a:t>
            </a:r>
          </a:p>
          <a:p>
            <a:endParaRPr/>
          </a:p>
          <a:p>
            <a:r>
              <a:t>[Sources]</a:t>
            </a:r>
          </a:p>
          <a:p>
            <a:r>
              <a:t>- docs/初赛证据索引.md</a:t>
            </a:r>
          </a:p>
          <a:p>
            <a:r>
              <a:t>- docs/复赛材料/00-材料约束.md</a:t>
            </a:r>
          </a:p>
          <a:p>
            <a:r>
              <a:t>- tools/workflow-controller/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单个Agent能够给出建议，但无法独自承担状态一致性、授权、幂等和崩溃恢复。MergePilot把这些职责放到Controller、Gateway和审计事实中，让Agent只承担适合模型的语义判断。</a:t>
            </a:r>
          </a:p>
          <a:p>
            <a:endParaRPr/>
          </a:p>
          <a:p>
            <a:r>
              <a:t>[Boundary] 不宣称所有外部Agent运行时故障均已解决。</a:t>
            </a:r>
          </a:p>
          <a:p>
            <a:endParaRPr/>
          </a:p>
          <a:p>
            <a:r>
              <a:t>[Sources]</a:t>
            </a:r>
          </a:p>
          <a:p>
            <a:r>
              <a:t>- docs/M3-B4-审批票据与Action-Outbox设计.md</a:t>
            </a:r>
          </a:p>
          <a:p>
            <a:r>
              <a:t>- evidence/m3b-b4e/</a:t>
            </a:r>
          </a:p>
          <a:p>
            <a:r>
              <a:t>- evidence/m3b-b5/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Controller是唯一流程状态权威，AgentTeams只负责语义协作。Skill以结构化合同执行，Gateway决定是否允许工具调用，GitHub MCP只执行经过治理的操作。底部数据和证据平面让每次状态变化都能回溯。</a:t>
            </a:r>
          </a:p>
          <a:p>
            <a:endParaRPr/>
          </a:p>
          <a:p>
            <a:r>
              <a:t>[Boundary] GitHub MCP是隔离服务，不称sidecar。</a:t>
            </a:r>
          </a:p>
          <a:p>
            <a:endParaRPr/>
          </a:p>
          <a:p>
            <a:r>
              <a:t>[Sources]</a:t>
            </a:r>
          </a:p>
          <a:p>
            <a:r>
              <a:t>- tools/workflow-controller/</a:t>
            </a:r>
          </a:p>
          <a:p>
            <a:r>
              <a:t>- tools/policy-gateway/</a:t>
            </a:r>
          </a:p>
          <a:p>
            <a:r>
              <a:t>- docs/复赛材料/00-材料约束.md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Agent数量不是能力指标。Triage和Fix Planning没有独立凭证和扩缩容需求，拆成Agent只会增加上下文损耗。当前四个运行时身份与六类职责更符合最小权限和可恢复性。</a:t>
            </a:r>
          </a:p>
          <a:p>
            <a:endParaRPr/>
          </a:p>
          <a:p>
            <a:r>
              <a:t>[Boundary] 不再写六个已部署Agent。</a:t>
            </a:r>
          </a:p>
          <a:p>
            <a:endParaRPr/>
          </a:p>
          <a:p>
            <a:r>
              <a:t>[Sources]</a:t>
            </a:r>
          </a:p>
          <a:p>
            <a:r>
              <a:t>- config/souls/</a:t>
            </a:r>
          </a:p>
          <a:p>
            <a:r>
              <a:t>- tools/agentteams/</a:t>
            </a:r>
          </a:p>
          <a:p>
            <a:r>
              <a:t>- docs/附录A-Agent-Identity清单.md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六类Skill不是六段Prompt，而是具有输入输出Schema、超时和错误码的工程组件。Reviewer、Fixer和Verifier可以组合调用，但流程状态仍由Controller推进。</a:t>
            </a:r>
          </a:p>
          <a:p>
            <a:endParaRPr/>
          </a:p>
          <a:p>
            <a:r>
              <a:t>[Boundary] RAG当前为advisory，不宣称已提升Reviewer或Fixer准确率。</a:t>
            </a:r>
          </a:p>
          <a:p>
            <a:endParaRPr/>
          </a:p>
          <a:p>
            <a:r>
              <a:t>[Sources]</a:t>
            </a:r>
          </a:p>
          <a:p>
            <a:r>
              <a:t>- skills/</a:t>
            </a:r>
          </a:p>
          <a:p>
            <a:r>
              <a:t>- evidence/m4/m4f/verification.txt</a:t>
            </a:r>
          </a:p>
          <a:p>
            <a:r>
              <a:t>- docs/M5-0-HiClaw-Live设计冻结.md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Controller把review、fix、verify以及回滚阶段写进状态机。消息可以重复，进程可以重启，但只有满足当前状态和revision条件的事件才能推进。</a:t>
            </a:r>
          </a:p>
          <a:p>
            <a:endParaRPr/>
          </a:p>
          <a:p>
            <a:r>
              <a:t>[Boundary] revision_producer_contract=NOT_VERIFIED。</a:t>
            </a:r>
          </a:p>
          <a:p>
            <a:endParaRPr/>
          </a:p>
          <a:p>
            <a:r>
              <a:t>[Sources]</a:t>
            </a:r>
          </a:p>
          <a:p>
            <a:r>
              <a:t>- tools/workflow-controller/controller.py</a:t>
            </a:r>
          </a:p>
          <a:p>
            <a:r>
              <a:t>- tools/workflow-controller/m4f_ingress.py</a:t>
            </a:r>
          </a:p>
          <a:p>
            <a:r>
              <a:t>- evidence/m3b-b4e/</a:t>
            </a:r>
          </a:p>
          <a:p>
            <a:r>
              <a:t>- evidence/m3c/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Reviewer、Fixer和Verifier即使被错误提示诱导，也拿不到PAT。所有写操作先经过Gateway；保护路径、错误revision或缺少审批都会稳定DENY或HOLD。</a:t>
            </a:r>
          </a:p>
          <a:p>
            <a:endParaRPr/>
          </a:p>
          <a:p>
            <a:r>
              <a:t>[Boundary] 不称MCP sidecar；不展示任何真实token。</a:t>
            </a:r>
          </a:p>
          <a:p>
            <a:endParaRPr/>
          </a:p>
          <a:p>
            <a:r>
              <a:t>[Sources]</a:t>
            </a:r>
          </a:p>
          <a:p>
            <a:r>
              <a:t>- config/m5-0c/real-github-policy.yaml</a:t>
            </a:r>
          </a:p>
          <a:p>
            <a:r>
              <a:t>- tools/policy-gateway/gateway.py</a:t>
            </a:r>
          </a:p>
          <a:p>
            <a:r>
              <a:t>- evidence/m3b-b5/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我们把可观测侧车改成审计与可观测平面，因为当前不是每个Agent旁边部署一个sidecar。结构化审计、本地Trace和未来SLS是不同完成状态，材料中分别陈述。</a:t>
            </a:r>
          </a:p>
          <a:p>
            <a:endParaRPr/>
          </a:p>
          <a:p>
            <a:r>
              <a:t>[Boundary] database_verified=false；audit_producer_contract=NOT_VERIFIED；云SLS未完成。</a:t>
            </a:r>
          </a:p>
          <a:p>
            <a:endParaRPr/>
          </a:p>
          <a:p>
            <a:r>
              <a:t>[Sources]</a:t>
            </a:r>
          </a:p>
          <a:p>
            <a:r>
              <a:t>- tools/audit-db/</a:t>
            </a:r>
          </a:p>
          <a:p>
            <a:r>
              <a:t>- tools/trace_aggregator.py</a:t>
            </a:r>
          </a:p>
          <a:p>
            <a:r>
              <a:t>- docs/M6A-OTel-Observability设计冻结.md</a:t>
            </a:r>
          </a:p>
          <a:p>
            <a:r>
              <a:t>- docs/M6B-SLS-Observability设计冻结.md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回滚不是随便再提交一次。系统先核对revision、审批和当前状态，任何读取失败或漂移都进入HOLD。回滚完成后还要重新验证，失败则升级人工，不进行第二次盲目回滚。</a:t>
            </a:r>
          </a:p>
          <a:p>
            <a:endParaRPr/>
          </a:p>
          <a:p>
            <a:r>
              <a:t>[Boundary] 不把历史脚本触发证据表述为所有场景均已生产自动回滚。</a:t>
            </a:r>
          </a:p>
          <a:p>
            <a:endParaRPr/>
          </a:p>
          <a:p>
            <a:r>
              <a:t>[Sources]</a:t>
            </a:r>
          </a:p>
          <a:p>
            <a:r>
              <a:t>- evidence/m3c/</a:t>
            </a:r>
          </a:p>
          <a:p>
            <a:r>
              <a:t>- tools/harness/mp_gh4_harness.py</a:t>
            </a:r>
          </a:p>
          <a:p>
            <a:r>
              <a:t>- workspace evidence bundle: temp/m8gh4-run27/evidence/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run35不是合成成功页。它从前置检查、网络、容器、防火墙、中继、数据库、路由探针、Gateway、Agent、Receipt和Matrix一路推进到complete。控制台仍明确显示direct routing为false，因为路径经过wsl-user-relay。</a:t>
            </a:r>
          </a:p>
          <a:p>
            <a:endParaRPr/>
          </a:p>
          <a:p>
            <a:r>
              <a:t>[Boundary] 本地真实E2E不等于生产验证；direct_routing_verified=false。</a:t>
            </a:r>
          </a:p>
          <a:p>
            <a:endParaRPr/>
          </a:p>
          <a:p>
            <a:r>
              <a:t>[Sources]</a:t>
            </a:r>
          </a:p>
          <a:p>
            <a:r>
              <a:t>- workspace evidence bundle: temp/m8gh4-run27/evidence/run35_output.json</a:t>
            </a:r>
          </a:p>
          <a:p>
            <a:r>
              <a:t>- workspace evidence bundle: temp/m8gh4-run27/evidence/session_run35_live_final.json</a:t>
            </a:r>
          </a:p>
          <a:p>
            <a:r>
              <a:t>- docs/preview/projections/complete.run35.json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成功时展示完整证据；失败时第一个稳定错误和失败边立即置顶；上游失联时保留最后良好数据并标成stale。控制台观察系统，不操作系统。</a:t>
            </a:r>
          </a:p>
          <a:p>
            <a:endParaRPr/>
          </a:p>
          <a:p>
            <a:r>
              <a:t>[Boundary] 它不是生产管理后台，也没有RBAC或写操作。</a:t>
            </a:r>
          </a:p>
          <a:p>
            <a:endParaRPr/>
          </a:p>
          <a:p>
            <a:r>
              <a:t>[Sources]</a:t>
            </a:r>
          </a:p>
          <a:p>
            <a:r>
              <a:t>- .impeccable/review/desktop.png</a:t>
            </a:r>
          </a:p>
          <a:p>
            <a:r>
              <a:t>- .impeccable/review/desktop-failed.png</a:t>
            </a:r>
          </a:p>
          <a:p>
            <a:r>
              <a:t>- tools/demo_console/live_assets/e2e-status.html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preview.3已经在同机空白状态完成真实安装和生命周期验收，冻结门禁为2246 passed、20 skipped，Windows浏览器页面和API双200。但独立物理机验收仍未完成，所以Release保持Pre-release，也不标Latest。</a:t>
            </a:r>
          </a:p>
          <a:p>
            <a:endParaRPr/>
          </a:p>
          <a:p>
            <a:r>
              <a:t>[Boundary] 不称外部可用性验收完成。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https://github.com/nghqqa/MergePilot/releases/tag/v0.1.0-preview.3</a:t>
            </a:r>
          </a:p>
          <a:p>
            <a:r>
              <a:t>- release/preview/bootstrapper.ps1</a:t>
            </a:r>
          </a:p>
          <a:p>
            <a:r>
              <a:t>- PR #208</a:t>
            </a:r>
          </a:p>
          <a:p>
            <a:r>
              <a:t>- commit 379744d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这组N=10乘2的受控本地评测显示，多角色编排主要减少误报，但没有提升召回，决策准确率反而下降，同时增加token和请求成本。因此它是方向性证据，不是多Agent必然更好的结论。</a:t>
            </a:r>
          </a:p>
          <a:p>
            <a:endParaRPr/>
          </a:p>
          <a:p>
            <a:r>
              <a:t>[Boundary] 单模型、合成fixture、每组仅10例、非真实Gateway/GitHub/HiClaw全链。</a:t>
            </a:r>
          </a:p>
          <a:p>
            <a:endParaRPr/>
          </a:p>
          <a:p>
            <a:r>
              <a:t>[Sources]</a:t>
            </a:r>
          </a:p>
          <a:p>
            <a:r>
              <a:t>- benchmark/formal-summary.md</a:t>
            </a:r>
          </a:p>
          <a:p>
            <a:r>
              <a:t>- benchmark/raw-runs/</a:t>
            </a:r>
          </a:p>
          <a:p>
            <a:r>
              <a:t>- benchmark/freeze_formal_results.py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当前版本证明了本地Preview能够安装、运行、诊断、回滚和展示证据。下一阶段不是再堆Agent，而是补独立机器验收、扩大真实样本，并把待验证边界逐项转成可复算证据。</a:t>
            </a:r>
          </a:p>
          <a:p>
            <a:endParaRPr/>
          </a:p>
          <a:p>
            <a:r>
              <a:t>[Boundary] External、application integration、database、production、revision producer和audit producer均未验证。</a:t>
            </a:r>
          </a:p>
          <a:p>
            <a:endParaRPr/>
          </a:p>
          <a:p>
            <a:r>
              <a:t>[Sources]</a:t>
            </a:r>
          </a:p>
          <a:p>
            <a:r>
              <a:t>- docs/复赛材料/04-声明证据矩阵/声明证据矩阵.md</a:t>
            </a:r>
          </a:p>
          <a:p>
            <a:r>
              <a:t>- https://github.com/nghqqa/MergePilot/releases/tag/v0.1.0-preview.3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D62A8D6-8F0F-47AC-B139-4664D5A03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ADB7D1-A762-40C7-8C6C-372825DD123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MERGEPILOT · 复赛更新方案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B3A5D783-93A6-4F89-887A-F6E73C5D309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477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让多 Agent 协作</a:t>
            </a:r>
          </a:p>
          <a:p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进入确定性交付控制面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6F0CD4-6BA5-4C3E-8489-4F63E6FDD3A6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可回滚 · 可审计 · 可复算 · 失败闭合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1BA5535-5DF4-46D9-AA1B-B123ADA3D853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1352550" cy="2857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C12FB2-02B5-4D84-8332-65E52BA089E6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PRE-RELEASE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215C38-E3E4-4602-914E-63BDEB3BEA25}"/>
              </a:ext>
            </a:extLst>
          </p:cNvPr>
          <p:cNvSpPr>
            <a:spLocks noGrp="1"/>
          </p:cNvSpPr>
          <p:nvPr/>
        </p:nvSpPr>
        <p:spPr>
          <a:xfrm>
            <a:off x="2247900" y="3476625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AgentTeams Runtime   Policy Gateway   6 Skill DAG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7" b="7"/>
          <a:stretch>
            <a:fillRect/>
          </a:stretch>
        </p:blipFill>
        <p:spPr>
          <a:xfrm>
            <a:off x="7239000" y="742950"/>
            <a:ext cx="4324350" cy="4819650"/>
          </a:xfrm>
          <a:prstGeom prst="roundRect">
            <a:avLst>
              <a:gd name="adj" fmla="val 2203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1AE0EE8-CC33-44E3-BABA-620BFA656029}"/>
              </a:ext>
            </a:extLst>
          </p:cNvPr>
          <p:cNvSpPr>
            <a:spLocks noGrp="1"/>
          </p:cNvSpPr>
          <p:nvPr/>
        </p:nvSpPr>
        <p:spPr>
          <a:xfrm>
            <a:off x="7239000" y="5562600"/>
            <a:ext cx="4324350" cy="419100"/>
          </a:xfrm>
          <a:prstGeom prst="roundRect">
            <a:avLst>
              <a:gd name="adj" fmla="val 13636"/>
            </a:avLst>
          </a:prstGeom>
          <a:solidFill>
            <a:srgbClr val="0B1020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C1AA7-DB56-459B-B880-CDDCBB91844C}"/>
              </a:ext>
            </a:extLst>
          </p:cNvPr>
          <p:cNvSpPr>
            <a:spLocks noGrp="1"/>
          </p:cNvSpPr>
          <p:nvPr/>
        </p:nvSpPr>
        <p:spPr>
          <a:xfrm>
            <a:off x="7410450" y="56578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E2E 投影 · 只读运维控制台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B8DDB8-66D7-4EC2-97BB-2564F9301A02}"/>
              </a:ext>
            </a:extLst>
          </p:cNvPr>
          <p:cNvSpPr>
            <a:spLocks noGrp="1"/>
          </p:cNvSpPr>
          <p:nvPr/>
        </p:nvSpPr>
        <p:spPr>
          <a:xfrm>
            <a:off x="723900" y="62484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v0.1.0-preview.3  ·  commit 379744d</a:t>
            </a:r>
          </a:p>
        </p:txBody>
      </p:sp>
    </p:spTree>
    <p:extLst>
      <p:ext uri="{BB962C8B-B14F-4D97-AF65-F5344CB8AC3E}">
        <p14:creationId xmlns:p14="http://schemas.microsoft.com/office/powerpoint/2010/main" val="166042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06FAB80-82EE-4694-B563-3A0949BC035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24679E-775A-4780-93F1-F9F2B540DD70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架构演进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946955D5-407D-43F2-9565-411F9314C41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初赛设想，已收敛为可验证系统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17CD39-14E5-4E5F-8F90-D792FC75CC76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17B795-8C89-4B58-A3B7-FFF2EE981C43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C0284C-955C-4F1B-B71A-E953F04D60D6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FCB83C-B5C6-4316-86C3-AA7E6744A9A5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初赛概念模型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E548D7-89A5-4B82-9AEE-BC1AAEF6E5A0}"/>
              </a:ext>
            </a:extLst>
          </p:cNvPr>
          <p:cNvSpPr>
            <a:spLocks noGrp="1"/>
          </p:cNvSpPr>
          <p:nvPr/>
        </p:nvSpPr>
        <p:spPr>
          <a:xfrm>
            <a:off x="7067550" y="1695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复赛工程实现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3591FE-C53E-40BF-BFB9-95C4B04B6E2B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个逻辑角色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A40BE00-6710-41F8-8BC8-05592ABBCED8}"/>
              </a:ext>
            </a:extLst>
          </p:cNvPr>
          <p:cNvSpPr>
            <a:spLocks noGrp="1"/>
          </p:cNvSpPr>
          <p:nvPr/>
        </p:nvSpPr>
        <p:spPr>
          <a:xfrm>
            <a:off x="4476750" y="2171700"/>
            <a:ext cx="1181100" cy="28575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3BFB89-3ECD-4136-90C2-1E4A26FF9C7A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4 个运行时 Agent · 6 类职责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190A29-2E37-49E3-855E-D0B94FE25D1A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78E25A-8485-49B6-8CA3-B89A29C56953}"/>
              </a:ext>
            </a:extLst>
          </p:cNvPr>
          <p:cNvSpPr>
            <a:spLocks noGrp="1"/>
          </p:cNvSpPr>
          <p:nvPr/>
        </p:nvSpPr>
        <p:spPr>
          <a:xfrm>
            <a:off x="704850" y="28194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手工 handoff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F3B4753-1A4E-408B-BBB3-768621E805B8}"/>
              </a:ext>
            </a:extLst>
          </p:cNvPr>
          <p:cNvSpPr>
            <a:spLocks noGrp="1"/>
          </p:cNvSpPr>
          <p:nvPr/>
        </p:nvSpPr>
        <p:spPr>
          <a:xfrm>
            <a:off x="4476750" y="28956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51917F-748D-4D11-B7AF-E61814506543}"/>
              </a:ext>
            </a:extLst>
          </p:cNvPr>
          <p:cNvSpPr>
            <a:spLocks noGrp="1"/>
          </p:cNvSpPr>
          <p:nvPr/>
        </p:nvSpPr>
        <p:spPr>
          <a:xfrm>
            <a:off x="6248400" y="28194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 状态机交接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CBAB22-7A5D-45A1-870D-14B9B9C0B374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802F28-5103-4E18-A909-6F23795E9CE6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07"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初赛旧称（不沿用）：MCP sidecar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66DB90ED-38F6-49A6-AA1B-EFF2070FBC62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29F10C-3799-4166-A811-09B6CF4A8DCA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MCP 隔离服务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3DC047-E0E8-4A9D-9A09-236D8352430B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42AD19-A84D-44E0-8DB7-B2AE939075BF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初赛旧称（不沿用）：可观测侧车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B48A5E59-7D2E-423B-AB1D-E166F6909BB9}"/>
              </a:ext>
            </a:extLst>
          </p:cNvPr>
          <p:cNvSpPr>
            <a:spLocks noGrp="1"/>
          </p:cNvSpPr>
          <p:nvPr/>
        </p:nvSpPr>
        <p:spPr>
          <a:xfrm>
            <a:off x="4476750" y="43434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62DCBB-8DCC-4D46-A6CF-F3FD4DF8524F}"/>
              </a:ext>
            </a:extLst>
          </p:cNvPr>
          <p:cNvSpPr>
            <a:spLocks noGrp="1"/>
          </p:cNvSpPr>
          <p:nvPr/>
        </p:nvSpPr>
        <p:spPr>
          <a:xfrm>
            <a:off x="6248400" y="42672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审计与可观测平面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69F0F4-ACDC-4A61-BA27-BDB70A01D79A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57BDBA-6BFD-41FE-A080-E9B779B359E7}"/>
              </a:ext>
            </a:extLst>
          </p:cNvPr>
          <p:cNvSpPr>
            <a:spLocks noGrp="1"/>
          </p:cNvSpPr>
          <p:nvPr/>
        </p:nvSpPr>
        <p:spPr>
          <a:xfrm>
            <a:off x="704850" y="49911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手工拼 Demo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25554F3-726B-4256-94FC-D37F54AC7718}"/>
              </a:ext>
            </a:extLst>
          </p:cNvPr>
          <p:cNvSpPr>
            <a:spLocks noGrp="1"/>
          </p:cNvSpPr>
          <p:nvPr/>
        </p:nvSpPr>
        <p:spPr>
          <a:xfrm>
            <a:off x="4476750" y="50673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F1DC20-70B1-4560-A50F-D85C3D02800D}"/>
              </a:ext>
            </a:extLst>
          </p:cNvPr>
          <p:cNvSpPr>
            <a:spLocks noGrp="1"/>
          </p:cNvSpPr>
          <p:nvPr/>
        </p:nvSpPr>
        <p:spPr>
          <a:xfrm>
            <a:off x="6248400" y="49911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Preview 包 + 只读控制台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F728FCF-5D62-41CF-8387-E8B45C92C0A7}"/>
              </a:ext>
            </a:extLst>
          </p:cNvPr>
          <p:cNvSpPr>
            <a:spLocks noGrp="1"/>
          </p:cNvSpPr>
          <p:nvPr/>
        </p:nvSpPr>
        <p:spPr>
          <a:xfrm>
            <a:off x="704850" y="55054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535908-EE5A-40C1-B5FC-04E78D46A4A4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2667000" cy="285750"/>
          </a:xfrm>
          <a:prstGeom prst="roundRect">
            <a:avLst>
              <a:gd name="adj" fmla="val 5000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A990975-45BB-4EC7-A842-C140B384CD3A}"/>
              </a:ext>
            </a:extLst>
          </p:cNvPr>
          <p:cNvSpPr>
            <a:spLocks noGrp="1"/>
          </p:cNvSpPr>
          <p:nvPr/>
        </p:nvSpPr>
        <p:spPr>
          <a:xfrm>
            <a:off x="704850" y="58483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工程收敛，不是功能缩水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646244-2DD7-4F50-8E30-DDBED003BC07}"/>
              </a:ext>
            </a:extLst>
          </p:cNvPr>
          <p:cNvSpPr>
            <a:spLocks noGrp="1"/>
          </p:cNvSpPr>
          <p:nvPr/>
        </p:nvSpPr>
        <p:spPr>
          <a:xfrm>
            <a:off x="3562350" y="585787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减少无收益的模型交接，把确定性职责下沉为 Skill 与状态机。</a:t>
            </a:r>
          </a:p>
        </p:txBody>
      </p:sp>
    </p:spTree>
    <p:extLst>
      <p:ext uri="{BB962C8B-B14F-4D97-AF65-F5344CB8AC3E}">
        <p14:creationId xmlns:p14="http://schemas.microsoft.com/office/powerpoint/2010/main" val="80783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0AD1A5EF-7E1A-4F7B-968A-5494AA33ABC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92347F-93A8-4A71-892F-830006295125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问题与价值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A4E017DB-E44D-4A9C-A120-C6649D558A3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 Agent 难在控制，不在生成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DAB21D-F4F7-4FA6-A4C5-51EE5B0DBDCB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9ED31D-F97B-4190-9056-42CD74335AB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331584-EC43-4C05-81BC-5CBA8146B861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C9D66E-840D-4601-A2BF-5084376A2108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AB87C-EC67-474D-A26C-8F12F0D80A7B}"/>
              </a:ext>
            </a:extLst>
          </p:cNvPr>
          <p:cNvSpPr>
            <a:spLocks noGrp="1"/>
          </p:cNvSpPr>
          <p:nvPr/>
        </p:nvSpPr>
        <p:spPr>
          <a:xfrm>
            <a:off x="1466850" y="18288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交接失控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177CE0-1F84-48FE-8E85-6FB7C6008560}"/>
              </a:ext>
            </a:extLst>
          </p:cNvPr>
          <p:cNvSpPr>
            <a:spLocks noGrp="1"/>
          </p:cNvSpPr>
          <p:nvPr/>
        </p:nvSpPr>
        <p:spPr>
          <a:xfrm>
            <a:off x="4191000" y="18669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乱序 · 重复 · 超时 · 进程崩溃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698458-3184-4861-B5E2-344C1BFA0931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01536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ECF63E-599E-45A1-8F90-05EB0995602F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1C1D5F-AEFF-414B-9F1F-0D2E06EA771E}"/>
              </a:ext>
            </a:extLst>
          </p:cNvPr>
          <p:cNvSpPr>
            <a:spLocks noGrp="1"/>
          </p:cNvSpPr>
          <p:nvPr/>
        </p:nvSpPr>
        <p:spPr>
          <a:xfrm>
            <a:off x="1466850" y="30289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权限失控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E0E30-D63E-44EB-88F3-E922903EDDCE}"/>
              </a:ext>
            </a:extLst>
          </p:cNvPr>
          <p:cNvSpPr>
            <a:spLocks noGrp="1"/>
          </p:cNvSpPr>
          <p:nvPr/>
        </p:nvSpPr>
        <p:spPr>
          <a:xfrm>
            <a:off x="4191000" y="30670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Worker 接触 PAT · 高风险写入缺审批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369C22-EE45-485B-9082-C2845ED9AD47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101536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E3DC76-6305-4DF5-A1B2-7310151D67F9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DB76CB-E73E-45C5-9E57-9B22EDB7D90C}"/>
              </a:ext>
            </a:extLst>
          </p:cNvPr>
          <p:cNvSpPr>
            <a:spLocks noGrp="1"/>
          </p:cNvSpPr>
          <p:nvPr/>
        </p:nvSpPr>
        <p:spPr>
          <a:xfrm>
            <a:off x="1466850" y="42291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证据失真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939CF7-F5C2-441B-B8D5-78EBE46CF737}"/>
              </a:ext>
            </a:extLst>
          </p:cNvPr>
          <p:cNvSpPr>
            <a:spLocks noGrp="1"/>
          </p:cNvSpPr>
          <p:nvPr/>
        </p:nvSpPr>
        <p:spPr>
          <a:xfrm>
            <a:off x="4191000" y="4267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成功截图无法证明路径、状态和清理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1B492E-45F8-47F3-A0D8-3DB5F7786DA4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1536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BBD67C-3C26-4A80-B659-94C9C2104F65}"/>
              </a:ext>
            </a:extLst>
          </p:cNvPr>
          <p:cNvSpPr>
            <a:spLocks noGrp="1"/>
          </p:cNvSpPr>
          <p:nvPr/>
        </p:nvSpPr>
        <p:spPr>
          <a:xfrm>
            <a:off x="704850" y="5486400"/>
            <a:ext cx="10191750" cy="66675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8D2A52-E32E-48A3-8AE3-54583FA936C8}"/>
              </a:ext>
            </a:extLst>
          </p:cNvPr>
          <p:cNvSpPr>
            <a:spLocks noGrp="1"/>
          </p:cNvSpPr>
          <p:nvPr/>
        </p:nvSpPr>
        <p:spPr>
          <a:xfrm>
            <a:off x="933450" y="5667375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MergePilot 的答案：语义决策交给 Agent，确定性治理交给 Controller / Gateway。</a:t>
            </a:r>
          </a:p>
        </p:txBody>
      </p:sp>
    </p:spTree>
    <p:extLst>
      <p:ext uri="{BB962C8B-B14F-4D97-AF65-F5344CB8AC3E}">
        <p14:creationId xmlns:p14="http://schemas.microsoft.com/office/powerpoint/2010/main" val="874889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17EAA26-11E1-4AD7-87A0-2E19CD373323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7C5390-A9E8-46DA-B98A-2B28375F08C5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B5423D25-1915-4565-B74E-E687EBD62EF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一条 PR 链路，三层责任边界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373664-2684-4169-9A8E-182C4F8A5E68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1A4B7D-CE1B-4176-9A81-7762338C01CD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D0A380-D47B-4047-8257-7D09D6A11F4F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255A2B3-B852-47D8-AB50-23B7CE5A4689}"/>
              </a:ext>
            </a:extLst>
          </p:cNvPr>
          <p:cNvSpPr>
            <a:spLocks noGrp="1"/>
          </p:cNvSpPr>
          <p:nvPr/>
        </p:nvSpPr>
        <p:spPr>
          <a:xfrm>
            <a:off x="196215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7F1DC01-F3DE-48AB-8517-0B82DE607313}"/>
              </a:ext>
            </a:extLst>
          </p:cNvPr>
          <p:cNvSpPr>
            <a:spLocks noGrp="1"/>
          </p:cNvSpPr>
          <p:nvPr/>
        </p:nvSpPr>
        <p:spPr>
          <a:xfrm>
            <a:off x="371475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2FDCC04-32C7-4CC0-A95B-D48EE46D51E5}"/>
              </a:ext>
            </a:extLst>
          </p:cNvPr>
          <p:cNvSpPr>
            <a:spLocks noGrp="1"/>
          </p:cNvSpPr>
          <p:nvPr/>
        </p:nvSpPr>
        <p:spPr>
          <a:xfrm>
            <a:off x="567690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1F95BED-982C-4C57-8419-74D907B9D8B1}"/>
              </a:ext>
            </a:extLst>
          </p:cNvPr>
          <p:cNvSpPr>
            <a:spLocks noGrp="1"/>
          </p:cNvSpPr>
          <p:nvPr/>
        </p:nvSpPr>
        <p:spPr>
          <a:xfrm>
            <a:off x="762000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90154E6-E664-43D0-97CF-A6D32B1D78E2}"/>
              </a:ext>
            </a:extLst>
          </p:cNvPr>
          <p:cNvSpPr>
            <a:spLocks noGrp="1"/>
          </p:cNvSpPr>
          <p:nvPr/>
        </p:nvSpPr>
        <p:spPr>
          <a:xfrm>
            <a:off x="952500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CB665C-453C-4828-8A64-5E42D15BAF4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3F4F90-7773-4E43-A633-BC604D466E2C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PR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36270F-866B-4FE7-BDB8-E85906CC781C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D56486A-C55D-4E0D-950B-BDB01156FDCB}"/>
              </a:ext>
            </a:extLst>
          </p:cNvPr>
          <p:cNvSpPr>
            <a:spLocks noGrp="1"/>
          </p:cNvSpPr>
          <p:nvPr/>
        </p:nvSpPr>
        <p:spPr>
          <a:xfrm>
            <a:off x="228600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034FCC-0155-4FA8-8E5A-DEA61D6D931B}"/>
              </a:ext>
            </a:extLst>
          </p:cNvPr>
          <p:cNvSpPr>
            <a:spLocks noGrp="1"/>
          </p:cNvSpPr>
          <p:nvPr/>
        </p:nvSpPr>
        <p:spPr>
          <a:xfrm>
            <a:off x="241935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6818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08AE44-741F-47CA-9A46-7BB463E62E4D}"/>
              </a:ext>
            </a:extLst>
          </p:cNvPr>
          <p:cNvSpPr>
            <a:spLocks noGrp="1"/>
          </p:cNvSpPr>
          <p:nvPr/>
        </p:nvSpPr>
        <p:spPr>
          <a:xfrm>
            <a:off x="241935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状态权威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7DA0DCA-D94B-4AD8-9953-3200FADBBB44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1638300" cy="1181100"/>
          </a:xfrm>
          <a:prstGeom prst="roundRect">
            <a:avLst>
              <a:gd name="adj" fmla="val 9677"/>
            </a:avLst>
          </a:prstGeom>
          <a:solidFill>
            <a:srgbClr val="E4F7FA"/>
          </a:solidFill>
          <a:ln w="9525">
            <a:solidFill>
              <a:srgbClr val="0D99B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4D67BF-80F5-4FB2-BE22-2CFC675E4AC1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1371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52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AgentTeams</a:t>
            </a:r>
            <a:endParaRPr sz="16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160D5D2-FA81-430F-9C85-AE77FF1217B8}"/>
              </a:ext>
            </a:extLst>
          </p:cNvPr>
          <p:cNvSpPr>
            <a:spLocks noGrp="1"/>
          </p:cNvSpPr>
          <p:nvPr/>
        </p:nvSpPr>
        <p:spPr>
          <a:xfrm>
            <a:off x="43815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语义协作</a:t>
            </a:r>
            <a:endParaRPr sz="11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9C5E86F-37EA-476A-8364-0D5B8FFCE667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0EF4EE-1BE8-4D00-92C2-DD8BD3ED636A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Skill DAG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218974-6A54-43ED-AE5C-D191FF041F70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确定性执行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8DC94C7-EED7-4049-A214-F0EFF3BBAEBC}"/>
              </a:ext>
            </a:extLst>
          </p:cNvPr>
          <p:cNvSpPr>
            <a:spLocks noGrp="1"/>
          </p:cNvSpPr>
          <p:nvPr/>
        </p:nvSpPr>
        <p:spPr>
          <a:xfrm>
            <a:off x="80962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677933-BE33-43A5-8CD0-2F66263E8E5F}"/>
              </a:ext>
            </a:extLst>
          </p:cNvPr>
          <p:cNvSpPr>
            <a:spLocks noGrp="1"/>
          </p:cNvSpPr>
          <p:nvPr/>
        </p:nvSpPr>
        <p:spPr>
          <a:xfrm>
            <a:off x="822960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6818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BD4CC2-0440-4524-A8F5-21A811236311}"/>
              </a:ext>
            </a:extLst>
          </p:cNvPr>
          <p:cNvSpPr>
            <a:spLocks noGrp="1"/>
          </p:cNvSpPr>
          <p:nvPr/>
        </p:nvSpPr>
        <p:spPr>
          <a:xfrm>
            <a:off x="82296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授权决策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A25CC32-E45F-4A7A-B1BC-B0EF5338F377}"/>
              </a:ext>
            </a:extLst>
          </p:cNvPr>
          <p:cNvSpPr>
            <a:spLocks noGrp="1"/>
          </p:cNvSpPr>
          <p:nvPr/>
        </p:nvSpPr>
        <p:spPr>
          <a:xfrm>
            <a:off x="100393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3C0E0F-7772-4112-8A7D-2BACFA4C8DC9}"/>
              </a:ext>
            </a:extLst>
          </p:cNvPr>
          <p:cNvSpPr>
            <a:spLocks noGrp="1"/>
          </p:cNvSpPr>
          <p:nvPr/>
        </p:nvSpPr>
        <p:spPr>
          <a:xfrm>
            <a:off x="10172700" y="2305050"/>
            <a:ext cx="135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07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B2047F-081C-44B1-9BFF-5E4813092A9B}"/>
              </a:ext>
            </a:extLst>
          </p:cNvPr>
          <p:cNvSpPr>
            <a:spLocks noGrp="1"/>
          </p:cNvSpPr>
          <p:nvPr/>
        </p:nvSpPr>
        <p:spPr>
          <a:xfrm>
            <a:off x="101727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隔离执行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5C4C32-B0D2-491C-B097-4A594250DE6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状态与证据平面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1FE8524-EDD0-4FC0-8632-77863440FA75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BC171A7-5228-4444-B35D-374383FFD846}"/>
              </a:ext>
            </a:extLst>
          </p:cNvPr>
          <p:cNvSpPr>
            <a:spLocks noGrp="1"/>
          </p:cNvSpPr>
          <p:nvPr/>
        </p:nvSpPr>
        <p:spPr>
          <a:xfrm>
            <a:off x="85725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B2E987-6495-4BDD-98B7-44130BC91778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 · Outbox · 审批 · 审计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5503D9F-817A-4332-895F-751952B85723}"/>
              </a:ext>
            </a:extLst>
          </p:cNvPr>
          <p:cNvSpPr>
            <a:spLocks noGrp="1"/>
          </p:cNvSpPr>
          <p:nvPr/>
        </p:nvSpPr>
        <p:spPr>
          <a:xfrm>
            <a:off x="337185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E4F7FA"/>
          </a:solidFill>
          <a:ln w="9525">
            <a:solidFill>
              <a:srgbClr val="0D99B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F183FD-BF2C-4B6F-9C37-CD20037AC932}"/>
              </a:ext>
            </a:extLst>
          </p:cNvPr>
          <p:cNvSpPr>
            <a:spLocks noGrp="1"/>
          </p:cNvSpPr>
          <p:nvPr/>
        </p:nvSpPr>
        <p:spPr>
          <a:xfrm>
            <a:off x="354330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6E139C5-A3F7-4036-95CE-A30D7422E1C9}"/>
              </a:ext>
            </a:extLst>
          </p:cNvPr>
          <p:cNvSpPr>
            <a:spLocks noGrp="1"/>
          </p:cNvSpPr>
          <p:nvPr/>
        </p:nvSpPr>
        <p:spPr>
          <a:xfrm>
            <a:off x="354330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案例检索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58040FB-AE48-45EF-AE25-8A5CA82944B6}"/>
              </a:ext>
            </a:extLst>
          </p:cNvPr>
          <p:cNvSpPr>
            <a:spLocks noGrp="1"/>
          </p:cNvSpPr>
          <p:nvPr/>
        </p:nvSpPr>
        <p:spPr>
          <a:xfrm>
            <a:off x="605790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3A3EC1F-6622-4497-99B8-EB4DE77216AB}"/>
              </a:ext>
            </a:extLst>
          </p:cNvPr>
          <p:cNvSpPr>
            <a:spLocks noGrp="1"/>
          </p:cNvSpPr>
          <p:nvPr/>
        </p:nvSpPr>
        <p:spPr>
          <a:xfrm>
            <a:off x="622935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2E6E34E-F607-4DEA-8331-523B72875EDF}"/>
              </a:ext>
            </a:extLst>
          </p:cNvPr>
          <p:cNvSpPr>
            <a:spLocks noGrp="1"/>
          </p:cNvSpPr>
          <p:nvPr/>
        </p:nvSpPr>
        <p:spPr>
          <a:xfrm>
            <a:off x="622935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配置 · 对象证据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DE9948E-1234-4022-8A02-CB9D71813099}"/>
              </a:ext>
            </a:extLst>
          </p:cNvPr>
          <p:cNvSpPr>
            <a:spLocks noGrp="1"/>
          </p:cNvSpPr>
          <p:nvPr/>
        </p:nvSpPr>
        <p:spPr>
          <a:xfrm>
            <a:off x="874395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E46692-CD0D-4043-8040-46F0DDD89797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Trace / OTel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178233-3B7A-480B-93DB-22A28ECC97B2}"/>
              </a:ext>
            </a:extLst>
          </p:cNvPr>
          <p:cNvSpPr>
            <a:spLocks noGrp="1"/>
          </p:cNvSpPr>
          <p:nvPr/>
        </p:nvSpPr>
        <p:spPr>
          <a:xfrm>
            <a:off x="891540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关联链 · 本地采集</a:t>
            </a:r>
          </a:p>
        </p:txBody>
      </p:sp>
    </p:spTree>
    <p:extLst>
      <p:ext uri="{BB962C8B-B14F-4D97-AF65-F5344CB8AC3E}">
        <p14:creationId xmlns:p14="http://schemas.microsoft.com/office/powerpoint/2010/main" val="131842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55071E2-7DFC-41A6-A767-899EEB474337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D05321-F923-4C41-A2B3-DF90ABCF81DC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身份与边界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CFCCE1CF-BF54-4923-82DC-C698213CC98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四个运行时 Agent，六类职责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B0CB6D-EFB9-411F-A6B8-9F10254F8CE0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E9248B-405B-4AC8-8E2B-28C90E2D8DDD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9ED-1BF3-44B6-9CC7-331E25951FC9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1572756-5280-4F12-ABD6-B3B26941FB04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629F523-FABA-42C3-92E7-0424BAC1EF0A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A6360F-5AC5-44AC-ACE7-ECE7A7A8631A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Manager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BE743F-3801-4894-9699-11307662AFDC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接入 · 路由 · 收口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2EC0EE-E7CA-4617-B016-26052282F9E0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0D99B5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EFC62D2-39D4-4003-9BEA-F63B0E678C30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0D99B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B9990C-D9A0-4996-B169-5D495F2E515E}"/>
              </a:ext>
            </a:extLst>
          </p:cNvPr>
          <p:cNvSpPr>
            <a:spLocks noGrp="1"/>
          </p:cNvSpPr>
          <p:nvPr/>
        </p:nvSpPr>
        <p:spPr>
          <a:xfrm>
            <a:off x="35433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315858-5494-40EF-866A-5070489098FB}"/>
              </a:ext>
            </a:extLst>
          </p:cNvPr>
          <p:cNvSpPr>
            <a:spLocks noGrp="1"/>
          </p:cNvSpPr>
          <p:nvPr/>
        </p:nvSpPr>
        <p:spPr>
          <a:xfrm>
            <a:off x="35433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审查 · 风险判断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65E2AD7-31FD-4121-ABD5-F0E3543E770D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2C09489-C7BF-4E53-84B9-5D93DF4BADF1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C7566C-9994-4696-85B5-06434A6CA984}"/>
              </a:ext>
            </a:extLst>
          </p:cNvPr>
          <p:cNvSpPr>
            <a:spLocks noGrp="1"/>
          </p:cNvSpPr>
          <p:nvPr/>
        </p:nvSpPr>
        <p:spPr>
          <a:xfrm>
            <a:off x="61722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80E3A-7132-4AD0-B68F-95C5972C8B2E}"/>
              </a:ext>
            </a:extLst>
          </p:cNvPr>
          <p:cNvSpPr>
            <a:spLocks noGrp="1"/>
          </p:cNvSpPr>
          <p:nvPr/>
        </p:nvSpPr>
        <p:spPr>
          <a:xfrm>
            <a:off x="61722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修复 · 受治理提交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3446B36-2984-4C61-AC46-6D5731E06D02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83DF31-04AD-42F5-B58F-909D632AD33E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6A6100-E2C5-4FC8-87BA-85D7BDB70643}"/>
              </a:ext>
            </a:extLst>
          </p:cNvPr>
          <p:cNvSpPr>
            <a:spLocks noGrp="1"/>
          </p:cNvSpPr>
          <p:nvPr/>
        </p:nvSpPr>
        <p:spPr>
          <a:xfrm>
            <a:off x="88011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Verifier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098F51-074A-4463-8A17-73208A3A6B03}"/>
              </a:ext>
            </a:extLst>
          </p:cNvPr>
          <p:cNvSpPr>
            <a:spLocks noGrp="1"/>
          </p:cNvSpPr>
          <p:nvPr/>
        </p:nvSpPr>
        <p:spPr>
          <a:xfrm>
            <a:off x="88011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复测 · 回滚判定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2592E0B-A344-4150-945D-D589F266BE9D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4876800" cy="1219200"/>
          </a:xfrm>
          <a:prstGeom prst="roundRect">
            <a:avLst>
              <a:gd name="adj" fmla="val 625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06A0FD-FCAD-489F-8216-C0DE5C2A40E6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Triage · Skill Stage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287A82-2F46-4823-A054-3ECEAF3FEE39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diff-parse + risk-classify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A0D63E7-E7AC-471C-BE6B-61951022DD20}"/>
              </a:ext>
            </a:extLst>
          </p:cNvPr>
          <p:cNvSpPr>
            <a:spLocks noGrp="1"/>
          </p:cNvSpPr>
          <p:nvPr/>
        </p:nvSpPr>
        <p:spPr>
          <a:xfrm>
            <a:off x="6000750" y="4000500"/>
            <a:ext cx="4819650" cy="1219200"/>
          </a:xfrm>
          <a:prstGeom prst="roundRect">
            <a:avLst>
              <a:gd name="adj" fmla="val 625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A27B07-48B7-4EE3-BBBF-FEEFE2D82EA9}"/>
              </a:ext>
            </a:extLst>
          </p:cNvPr>
          <p:cNvSpPr>
            <a:spLocks noGrp="1"/>
          </p:cNvSpPr>
          <p:nvPr/>
        </p:nvSpPr>
        <p:spPr>
          <a:xfrm>
            <a:off x="6210300" y="4210050"/>
            <a:ext cx="440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Fix Planning · Planning Stage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55912D-9CAE-4F34-AAEE-76EDE0A2F07A}"/>
              </a:ext>
            </a:extLst>
          </p:cNvPr>
          <p:cNvSpPr>
            <a:spLocks noGrp="1"/>
          </p:cNvSpPr>
          <p:nvPr/>
        </p:nvSpPr>
        <p:spPr>
          <a:xfrm>
            <a:off x="6210300" y="4648200"/>
            <a:ext cx="440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Fixer 规划阶段 + Controller 状态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BAA1D80-AC7E-44D4-A627-C204B2636D80}"/>
              </a:ext>
            </a:extLst>
          </p:cNvPr>
          <p:cNvSpPr>
            <a:spLocks noGrp="1"/>
          </p:cNvSpPr>
          <p:nvPr/>
        </p:nvSpPr>
        <p:spPr>
          <a:xfrm>
            <a:off x="4286250" y="5638800"/>
            <a:ext cx="3619500" cy="28575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5E76F2-8361-4513-8B50-C97F68BC53BD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不为保持数字新增 Agent</a:t>
            </a:r>
          </a:p>
        </p:txBody>
      </p:sp>
    </p:spTree>
    <p:extLst>
      <p:ext uri="{BB962C8B-B14F-4D97-AF65-F5344CB8AC3E}">
        <p14:creationId xmlns:p14="http://schemas.microsoft.com/office/powerpoint/2010/main" val="106499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115840C5-D038-42AA-9A40-DCD0FC5AB46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A73C56-B113-4CAF-8B4B-FFAAFF7817FC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六类工程能力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4E662FD4-1D67-4893-82C4-DFCA94AE34C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让工程动作可测试、可超时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4E69D7-00E6-4862-8A5B-209D0459E33D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64E8DF-0043-4372-ADC1-06CC05397FF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F41746-3F35-48ED-B396-825DF86AF13A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5E4825-8B10-4656-BF7F-66F290317235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8DC168-3238-422A-8634-E05AECF05CA5}"/>
              </a:ext>
            </a:extLst>
          </p:cNvPr>
          <p:cNvSpPr>
            <a:spLocks noGrp="1"/>
          </p:cNvSpPr>
          <p:nvPr/>
        </p:nvSpPr>
        <p:spPr>
          <a:xfrm>
            <a:off x="1333500" y="18669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diff-parse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4D2C1C-7516-46E9-A7D3-969F5D173A97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3143250" cy="1905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DC3DF5-470F-44F3-949F-297CD2FC666F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解析Diff结构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904A70-99DF-4B8B-AC58-4DA2AB03529A}"/>
              </a:ext>
            </a:extLst>
          </p:cNvPr>
          <p:cNvSpPr>
            <a:spLocks noGrp="1"/>
          </p:cNvSpPr>
          <p:nvPr/>
        </p:nvSpPr>
        <p:spPr>
          <a:xfrm>
            <a:off x="4381500" y="1885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E4B783-A85B-44A6-9A2D-30D2A549B548}"/>
              </a:ext>
            </a:extLst>
          </p:cNvPr>
          <p:cNvSpPr>
            <a:spLocks noGrp="1"/>
          </p:cNvSpPr>
          <p:nvPr/>
        </p:nvSpPr>
        <p:spPr>
          <a:xfrm>
            <a:off x="4972050" y="18669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risk-classify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612FC2-0FC1-43C4-807A-EE40367E1F6C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3143250" cy="1905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00EA38-2447-456D-B7EB-1133A430FCC7}"/>
              </a:ext>
            </a:extLst>
          </p:cNvPr>
          <p:cNvSpPr>
            <a:spLocks noGrp="1"/>
          </p:cNvSpPr>
          <p:nvPr/>
        </p:nvSpPr>
        <p:spPr>
          <a:xfrm>
            <a:off x="4972050" y="2476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分类风险与路径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E98676-4349-4B51-877A-536B239484CD}"/>
              </a:ext>
            </a:extLst>
          </p:cNvPr>
          <p:cNvSpPr>
            <a:spLocks noGrp="1"/>
          </p:cNvSpPr>
          <p:nvPr/>
        </p:nvSpPr>
        <p:spPr>
          <a:xfrm>
            <a:off x="8020050" y="1885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C5A912-E58E-4F89-A690-511EA84CE616}"/>
              </a:ext>
            </a:extLst>
          </p:cNvPr>
          <p:cNvSpPr>
            <a:spLocks noGrp="1"/>
          </p:cNvSpPr>
          <p:nvPr/>
        </p:nvSpPr>
        <p:spPr>
          <a:xfrm>
            <a:off x="8610600" y="18669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sast-scan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DA74BA-A6ED-4773-BD53-A042BE1551B5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E88E0B-E4B9-4243-A46C-6ED065EE0DCC}"/>
              </a:ext>
            </a:extLst>
          </p:cNvPr>
          <p:cNvSpPr>
            <a:spLocks noGrp="1"/>
          </p:cNvSpPr>
          <p:nvPr/>
        </p:nvSpPr>
        <p:spPr>
          <a:xfrm>
            <a:off x="8610600" y="2476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确定性静态扫描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BC3972-7623-445D-B4C9-E858FCB0FCFC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1C3EB2-ABEF-4FDF-A78E-D8D533F960D1}"/>
              </a:ext>
            </a:extLst>
          </p:cNvPr>
          <p:cNvSpPr>
            <a:spLocks noGrp="1"/>
          </p:cNvSpPr>
          <p:nvPr/>
        </p:nvSpPr>
        <p:spPr>
          <a:xfrm>
            <a:off x="1333500" y="3219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test-runner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A38D9A-8795-40B2-BC56-FC62DBA977AA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0E8C29-480F-40D6-967A-1C7172615DBA}"/>
              </a:ext>
            </a:extLst>
          </p:cNvPr>
          <p:cNvSpPr>
            <a:spLocks noGrp="1"/>
          </p:cNvSpPr>
          <p:nvPr/>
        </p:nvSpPr>
        <p:spPr>
          <a:xfrm>
            <a:off x="1333500" y="3829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有界测试执行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2A1A13-D8D8-4D3E-B411-3DC9F4CDE043}"/>
              </a:ext>
            </a:extLst>
          </p:cNvPr>
          <p:cNvSpPr>
            <a:spLocks noGrp="1"/>
          </p:cNvSpPr>
          <p:nvPr/>
        </p:nvSpPr>
        <p:spPr>
          <a:xfrm>
            <a:off x="4381500" y="3238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828275-CF21-4C80-A899-2B15C395241F}"/>
              </a:ext>
            </a:extLst>
          </p:cNvPr>
          <p:cNvSpPr>
            <a:spLocks noGrp="1"/>
          </p:cNvSpPr>
          <p:nvPr/>
        </p:nvSpPr>
        <p:spPr>
          <a:xfrm>
            <a:off x="4972050" y="3219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pr-lifecycle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5023C2-6280-4F30-BD3E-18918FB15DFA}"/>
              </a:ext>
            </a:extLst>
          </p:cNvPr>
          <p:cNvSpPr>
            <a:spLocks noGrp="1"/>
          </p:cNvSpPr>
          <p:nvPr/>
        </p:nvSpPr>
        <p:spPr>
          <a:xfrm>
            <a:off x="4381500" y="367665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11DC92-1B33-4ED6-841A-E1DD78B2C943}"/>
              </a:ext>
            </a:extLst>
          </p:cNvPr>
          <p:cNvSpPr>
            <a:spLocks noGrp="1"/>
          </p:cNvSpPr>
          <p:nvPr/>
        </p:nvSpPr>
        <p:spPr>
          <a:xfrm>
            <a:off x="4972050" y="3829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PR创建/合并/回滚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26769E-A9FA-46CA-895D-B8310EBCB689}"/>
              </a:ext>
            </a:extLst>
          </p:cNvPr>
          <p:cNvSpPr>
            <a:spLocks noGrp="1"/>
          </p:cNvSpPr>
          <p:nvPr/>
        </p:nvSpPr>
        <p:spPr>
          <a:xfrm>
            <a:off x="8020050" y="3238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B8C1C9-C69D-4AD3-8C26-CAB84D640827}"/>
              </a:ext>
            </a:extLst>
          </p:cNvPr>
          <p:cNvSpPr>
            <a:spLocks noGrp="1"/>
          </p:cNvSpPr>
          <p:nvPr/>
        </p:nvSpPr>
        <p:spPr>
          <a:xfrm>
            <a:off x="8610600" y="3219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case-retrieval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EE633D-37DD-4467-BCCA-323471E1600F}"/>
              </a:ext>
            </a:extLst>
          </p:cNvPr>
          <p:cNvSpPr>
            <a:spLocks noGrp="1"/>
          </p:cNvSpPr>
          <p:nvPr/>
        </p:nvSpPr>
        <p:spPr>
          <a:xfrm>
            <a:off x="8020050" y="367665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2DADEA-97D3-40A0-99C5-6E4A3AE4973D}"/>
              </a:ext>
            </a:extLst>
          </p:cNvPr>
          <p:cNvSpPr>
            <a:spLocks noGrp="1"/>
          </p:cNvSpPr>
          <p:nvPr/>
        </p:nvSpPr>
        <p:spPr>
          <a:xfrm>
            <a:off x="8610600" y="3829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pgvector案例检索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8A137D6-6952-42C9-B95B-BAC69F64393C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10172700" cy="781050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1065DE-02B4-46E2-8743-2E93CAD41CE5}"/>
              </a:ext>
            </a:extLst>
          </p:cNvPr>
          <p:cNvSpPr>
            <a:spLocks noGrp="1"/>
          </p:cNvSpPr>
          <p:nvPr/>
        </p:nvSpPr>
        <p:spPr>
          <a:xfrm>
            <a:off x="1009650" y="5200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BF2D13B-CB95-454F-B462-488BD88F3F44}"/>
              </a:ext>
            </a:extLst>
          </p:cNvPr>
          <p:cNvSpPr>
            <a:spLocks noGrp="1"/>
          </p:cNvSpPr>
          <p:nvPr/>
        </p:nvSpPr>
        <p:spPr>
          <a:xfrm>
            <a:off x="2952750" y="5200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Deadline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73AF7D-DB02-4C12-B1FC-54DDCCC8354B}"/>
              </a:ext>
            </a:extLst>
          </p:cNvPr>
          <p:cNvSpPr>
            <a:spLocks noGrp="1"/>
          </p:cNvSpPr>
          <p:nvPr/>
        </p:nvSpPr>
        <p:spPr>
          <a:xfrm>
            <a:off x="4895850" y="5200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Atomic output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F14EC45-7A42-4D0E-B901-062BDDD95F1B}"/>
              </a:ext>
            </a:extLst>
          </p:cNvPr>
          <p:cNvSpPr>
            <a:spLocks noGrp="1"/>
          </p:cNvSpPr>
          <p:nvPr/>
        </p:nvSpPr>
        <p:spPr>
          <a:xfrm>
            <a:off x="7086600" y="5200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Fail-closed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A1A554-53F2-44C8-BF3C-8B8DBC3FFCA9}"/>
              </a:ext>
            </a:extLst>
          </p:cNvPr>
          <p:cNvSpPr>
            <a:spLocks noGrp="1"/>
          </p:cNvSpPr>
          <p:nvPr/>
        </p:nvSpPr>
        <p:spPr>
          <a:xfrm>
            <a:off x="9144000" y="5200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90764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D70B5C1-650D-442A-8ADF-6CAAA54F07A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EF68AE-88EE-4A98-8049-723CD64BC2F8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Workflow Controller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49B5AD33-D78A-4179-B943-356D1CFAD42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交接由状态机推进，不靠猜测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ABDA64-76C2-416E-99EF-9ABF8D80D3A7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CB8DA2-B069-44C4-8780-E6ABD5BBDA79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DB9B9E-441C-414E-9199-32638A46615E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60BF34B-A0FB-4070-8AD4-E8FC9D46046D}"/>
              </a:ext>
            </a:extLst>
          </p:cNvPr>
          <p:cNvSpPr>
            <a:spLocks noGrp="1"/>
          </p:cNvSpPr>
          <p:nvPr/>
        </p:nvSpPr>
        <p:spPr>
          <a:xfrm>
            <a:off x="2743200" y="2647950"/>
            <a:ext cx="5905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9D9E645-6A45-4831-BBBF-0B6A85076512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3C5140-7884-4888-A026-3778FE0A8EAC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REVIEW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AFE87F-B093-408E-8791-87E1B78BCBD8}"/>
              </a:ext>
            </a:extLst>
          </p:cNvPr>
          <p:cNvSpPr>
            <a:spLocks noGrp="1"/>
          </p:cNvSpPr>
          <p:nvPr/>
        </p:nvSpPr>
        <p:spPr>
          <a:xfrm>
            <a:off x="10096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37"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attempt · revision · owner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F8A0997-EEAE-4C8E-9CE7-EF735F2D9217}"/>
              </a:ext>
            </a:extLst>
          </p:cNvPr>
          <p:cNvSpPr>
            <a:spLocks noGrp="1"/>
          </p:cNvSpPr>
          <p:nvPr/>
        </p:nvSpPr>
        <p:spPr>
          <a:xfrm>
            <a:off x="5372100" y="2647950"/>
            <a:ext cx="5905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BFF87CB-E25F-49A5-A753-033EE9042210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A2BB39-F9BB-4327-980A-E1BB934ECB59}"/>
              </a:ext>
            </a:extLst>
          </p:cNvPr>
          <p:cNvSpPr>
            <a:spLocks noGrp="1"/>
          </p:cNvSpPr>
          <p:nvPr/>
        </p:nvSpPr>
        <p:spPr>
          <a:xfrm>
            <a:off x="35052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FIX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C0B2C6-3680-4A27-8AC3-483C214D96AF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37"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attempt · revision · owner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FA1E7CE5-BF2B-4D05-B7B3-11E42A2AC537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5905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511CB3-36F2-4DC1-AEE5-723105AF5827}"/>
              </a:ext>
            </a:extLst>
          </p:cNvPr>
          <p:cNvSpPr>
            <a:spLocks noGrp="1"/>
          </p:cNvSpPr>
          <p:nvPr/>
        </p:nvSpPr>
        <p:spPr>
          <a:xfrm>
            <a:off x="61341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1FA74B-BFC9-4226-BDCA-DEA3DAF42F09}"/>
              </a:ext>
            </a:extLst>
          </p:cNvPr>
          <p:cNvSpPr>
            <a:spLocks noGrp="1"/>
          </p:cNvSpPr>
          <p:nvPr/>
        </p:nvSpPr>
        <p:spPr>
          <a:xfrm>
            <a:off x="61341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VERIFY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CB5F18-CD4A-46FC-9B98-1C1394B9D711}"/>
              </a:ext>
            </a:extLst>
          </p:cNvPr>
          <p:cNvSpPr>
            <a:spLocks noGrp="1"/>
          </p:cNvSpPr>
          <p:nvPr/>
        </p:nvSpPr>
        <p:spPr>
          <a:xfrm>
            <a:off x="62674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37"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attempt · revision · owner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705518A-744D-46B0-AA08-34C0BD5ECF10}"/>
              </a:ext>
            </a:extLst>
          </p:cNvPr>
          <p:cNvSpPr>
            <a:spLocks noGrp="1"/>
          </p:cNvSpPr>
          <p:nvPr/>
        </p:nvSpPr>
        <p:spPr>
          <a:xfrm>
            <a:off x="87630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20B520-1BE2-4124-B4CA-E5CDC4E7D3F4}"/>
              </a:ext>
            </a:extLst>
          </p:cNvPr>
          <p:cNvSpPr>
            <a:spLocks noGrp="1"/>
          </p:cNvSpPr>
          <p:nvPr/>
        </p:nvSpPr>
        <p:spPr>
          <a:xfrm>
            <a:off x="87630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rPr>
              <a:t>HOLD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93A00A-0FE9-4CAC-8A10-1D81D616643F}"/>
              </a:ext>
            </a:extLst>
          </p:cNvPr>
          <p:cNvSpPr>
            <a:spLocks noGrp="1"/>
          </p:cNvSpPr>
          <p:nvPr/>
        </p:nvSpPr>
        <p:spPr>
          <a:xfrm>
            <a:off x="88963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超时 / 漂移 / 待审批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84C0E5-0B45-4FD1-B0DF-7A22A97EEE96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Outbox：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派发可重试，状态推进只发生一次。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CAS：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late event只有命中当前状态与revision才能恢复。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Crash recovery：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从磁盘journal与数据库事实恢复，不依赖内存。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5480599-CFD1-483A-858C-33C75F74ECE4}"/>
              </a:ext>
            </a:extLst>
          </p:cNvPr>
          <p:cNvSpPr>
            <a:spLocks noGrp="1"/>
          </p:cNvSpPr>
          <p:nvPr/>
        </p:nvSpPr>
        <p:spPr>
          <a:xfrm>
            <a:off x="8629650" y="3848100"/>
            <a:ext cx="2266950" cy="1428750"/>
          </a:xfrm>
          <a:prstGeom prst="roundRect">
            <a:avLst>
              <a:gd name="adj" fmla="val 5333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50D048-F202-4101-BF05-99C23A6E893F}"/>
              </a:ext>
            </a:extLst>
          </p:cNvPr>
          <p:cNvSpPr>
            <a:spLocks noGrp="1"/>
          </p:cNvSpPr>
          <p:nvPr/>
        </p:nvSpPr>
        <p:spPr>
          <a:xfrm>
            <a:off x="8839200" y="409575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唯一状态权威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4FEA91-C2AF-4C08-A687-04E7D8F31D55}"/>
              </a:ext>
            </a:extLst>
          </p:cNvPr>
          <p:cNvSpPr>
            <a:spLocks noGrp="1"/>
          </p:cNvSpPr>
          <p:nvPr/>
        </p:nvSpPr>
        <p:spPr>
          <a:xfrm>
            <a:off x="8839200" y="4591050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09"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不是 durable state owner</a:t>
            </a:r>
          </a:p>
        </p:txBody>
      </p:sp>
    </p:spTree>
    <p:extLst>
      <p:ext uri="{BB962C8B-B14F-4D97-AF65-F5344CB8AC3E}">
        <p14:creationId xmlns:p14="http://schemas.microsoft.com/office/powerpoint/2010/main" val="48095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BE66349-F6B8-4BCE-8CED-155B3AB1F639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763A87-6609-408B-8F7B-DF0528FF4904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2D8CE436-DCB1-469F-98D4-241A461E2B6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 被锁在 GitHub MCP 隔离服务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663E7F-C601-464C-88D5-747BACE98D44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DF576B-7676-46A2-8102-7487CC4B5736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830601-ABC7-4BD8-9D30-E9A2BC192FBF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A99E7AA-922A-4177-A2AC-18FD9D0D0318}"/>
              </a:ext>
            </a:extLst>
          </p:cNvPr>
          <p:cNvSpPr>
            <a:spLocks noGrp="1"/>
          </p:cNvSpPr>
          <p:nvPr/>
        </p:nvSpPr>
        <p:spPr>
          <a:xfrm>
            <a:off x="2686050" y="2686050"/>
            <a:ext cx="7810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DA3A2F7-1040-41EE-8C9A-A65459FDE4C1}"/>
              </a:ext>
            </a:extLst>
          </p:cNvPr>
          <p:cNvSpPr>
            <a:spLocks noGrp="1"/>
          </p:cNvSpPr>
          <p:nvPr/>
        </p:nvSpPr>
        <p:spPr>
          <a:xfrm>
            <a:off x="5715000" y="2686050"/>
            <a:ext cx="7810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9304FB4-8907-433E-BA6B-376A23DDF05D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7810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F5553E3-8439-4657-80AF-C0D36F24248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00250" cy="1257300"/>
          </a:xfrm>
          <a:prstGeom prst="roundRect">
            <a:avLst>
              <a:gd name="adj" fmla="val 9091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9BD1A-304C-46E3-B04F-DCBDE0B0DBFB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50B961-BA11-40B0-93F8-C8E9AA4006F4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733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token</a:t>
            </a:r>
          </a:p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零 GitHub PAT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02E72BF-B593-421F-8F3C-C04C370E8976}"/>
              </a:ext>
            </a:extLst>
          </p:cNvPr>
          <p:cNvSpPr>
            <a:spLocks noGrp="1"/>
          </p:cNvSpPr>
          <p:nvPr/>
        </p:nvSpPr>
        <p:spPr>
          <a:xfrm>
            <a:off x="3467100" y="2000250"/>
            <a:ext cx="2247900" cy="1638300"/>
          </a:xfrm>
          <a:prstGeom prst="roundRect">
            <a:avLst>
              <a:gd name="adj" fmla="val 6977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533084-6B79-4246-B76C-5666536237C0}"/>
              </a:ext>
            </a:extLst>
          </p:cNvPr>
          <p:cNvSpPr>
            <a:spLocks noGrp="1"/>
          </p:cNvSpPr>
          <p:nvPr/>
        </p:nvSpPr>
        <p:spPr>
          <a:xfrm>
            <a:off x="3600450" y="213360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Policy Gateway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3B71BC-C730-4AC8-9559-E950CC4126D9}"/>
              </a:ext>
            </a:extLst>
          </p:cNvPr>
          <p:cNvSpPr>
            <a:spLocks noGrp="1"/>
          </p:cNvSpPr>
          <p:nvPr/>
        </p:nvSpPr>
        <p:spPr>
          <a:xfrm>
            <a:off x="3600450" y="2457450"/>
            <a:ext cx="1981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仓库 · 工具</a:t>
            </a:r>
          </a:p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方法 · 路径 · revision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25FF86-4395-46FD-9422-1B7D66E6DF37}"/>
              </a:ext>
            </a:extLst>
          </p:cNvPr>
          <p:cNvSpPr>
            <a:spLocks noGrp="1"/>
          </p:cNvSpPr>
          <p:nvPr/>
        </p:nvSpPr>
        <p:spPr>
          <a:xfrm>
            <a:off x="6496050" y="2190750"/>
            <a:ext cx="2362200" cy="1257300"/>
          </a:xfrm>
          <a:prstGeom prst="roundRect">
            <a:avLst>
              <a:gd name="adj" fmla="val 9091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72B539-A1D1-4262-AD83-3F5FA9D6397A}"/>
              </a:ext>
            </a:extLst>
          </p:cNvPr>
          <p:cNvSpPr>
            <a:spLocks noGrp="1"/>
          </p:cNvSpPr>
          <p:nvPr/>
        </p:nvSpPr>
        <p:spPr>
          <a:xfrm>
            <a:off x="6629400" y="23241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MCP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0B8E7A-7E21-4988-AD85-F197A76DFD8C}"/>
              </a:ext>
            </a:extLst>
          </p:cNvPr>
          <p:cNvSpPr>
            <a:spLocks noGrp="1"/>
          </p:cNvSpPr>
          <p:nvPr/>
        </p:nvSpPr>
        <p:spPr>
          <a:xfrm>
            <a:off x="6629400" y="2647950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隔离执行</a:t>
            </a:r>
          </a:p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唯一 PAT 边界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404A2A8-A14F-4B6D-9E89-3E1407F8E05E}"/>
              </a:ext>
            </a:extLst>
          </p:cNvPr>
          <p:cNvSpPr>
            <a:spLocks noGrp="1"/>
          </p:cNvSpPr>
          <p:nvPr/>
        </p:nvSpPr>
        <p:spPr>
          <a:xfrm>
            <a:off x="9639300" y="2190750"/>
            <a:ext cx="1790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83F938-9FA1-4421-AACF-82ADEFC2E852}"/>
              </a:ext>
            </a:extLst>
          </p:cNvPr>
          <p:cNvSpPr>
            <a:spLocks noGrp="1"/>
          </p:cNvSpPr>
          <p:nvPr/>
        </p:nvSpPr>
        <p:spPr>
          <a:xfrm>
            <a:off x="9772650" y="23241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7EE7B6-1535-49CD-B37C-2E3F772EA53B}"/>
              </a:ext>
            </a:extLst>
          </p:cNvPr>
          <p:cNvSpPr>
            <a:spLocks noGrp="1"/>
          </p:cNvSpPr>
          <p:nvPr/>
        </p:nvSpPr>
        <p:spPr>
          <a:xfrm>
            <a:off x="9772650" y="2647950"/>
            <a:ext cx="152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受治理写入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D7AA93C-546E-4E8E-A89A-523873200DD8}"/>
              </a:ext>
            </a:extLst>
          </p:cNvPr>
          <p:cNvSpPr>
            <a:spLocks noGrp="1"/>
          </p:cNvSpPr>
          <p:nvPr/>
        </p:nvSpPr>
        <p:spPr>
          <a:xfrm>
            <a:off x="3829050" y="400050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B44EC7-A9B8-4FA8-B493-7BADE7E016D9}"/>
              </a:ext>
            </a:extLst>
          </p:cNvPr>
          <p:cNvSpPr>
            <a:spLocks noGrp="1"/>
          </p:cNvSpPr>
          <p:nvPr/>
        </p:nvSpPr>
        <p:spPr>
          <a:xfrm>
            <a:off x="3829050" y="4019550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DENY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AF4A67-27B5-4F5C-8664-8AE4D273901B}"/>
              </a:ext>
            </a:extLst>
          </p:cNvPr>
          <p:cNvSpPr>
            <a:spLocks noGrp="1"/>
          </p:cNvSpPr>
          <p:nvPr/>
        </p:nvSpPr>
        <p:spPr>
          <a:xfrm>
            <a:off x="5181600" y="40290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保护路径 / 错 revision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97929E5-3B05-4412-BFB2-2ADC79F21F88}"/>
              </a:ext>
            </a:extLst>
          </p:cNvPr>
          <p:cNvSpPr>
            <a:spLocks noGrp="1"/>
          </p:cNvSpPr>
          <p:nvPr/>
        </p:nvSpPr>
        <p:spPr>
          <a:xfrm>
            <a:off x="3829050" y="447675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39E8754-1344-4413-9BA8-CB45C9D1D2CF}"/>
              </a:ext>
            </a:extLst>
          </p:cNvPr>
          <p:cNvSpPr>
            <a:spLocks noGrp="1"/>
          </p:cNvSpPr>
          <p:nvPr/>
        </p:nvSpPr>
        <p:spPr>
          <a:xfrm>
            <a:off x="3829050" y="4495800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HOLD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7D9B51-CA25-449F-9406-BEE1255913FD}"/>
              </a:ext>
            </a:extLst>
          </p:cNvPr>
          <p:cNvSpPr>
            <a:spLocks noGrp="1"/>
          </p:cNvSpPr>
          <p:nvPr/>
        </p:nvSpPr>
        <p:spPr>
          <a:xfrm>
            <a:off x="5181600" y="4505325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高风险写入等待 L2 审批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8B5363A-F7B3-457A-9038-40927B03EA61}"/>
              </a:ext>
            </a:extLst>
          </p:cNvPr>
          <p:cNvSpPr>
            <a:spLocks noGrp="1"/>
          </p:cNvSpPr>
          <p:nvPr/>
        </p:nvSpPr>
        <p:spPr>
          <a:xfrm>
            <a:off x="3829050" y="495300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1098A8-7E31-4A9F-BCD7-743ACA88F86B}"/>
              </a:ext>
            </a:extLst>
          </p:cNvPr>
          <p:cNvSpPr>
            <a:spLocks noGrp="1"/>
          </p:cNvSpPr>
          <p:nvPr/>
        </p:nvSpPr>
        <p:spPr>
          <a:xfrm>
            <a:off x="3829050" y="4972050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ALLOW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FCD84C-507A-4E51-9E4C-F0D4D276783B}"/>
              </a:ext>
            </a:extLst>
          </p:cNvPr>
          <p:cNvSpPr>
            <a:spLocks noGrp="1"/>
          </p:cNvSpPr>
          <p:nvPr/>
        </p:nvSpPr>
        <p:spPr>
          <a:xfrm>
            <a:off x="5181600" y="49815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只执行通过策略与 revision 绑定的动作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8266CE8-E2F7-47B9-AB7B-015561C72714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744200" cy="400050"/>
          </a:xfrm>
          <a:prstGeom prst="roundRect">
            <a:avLst>
              <a:gd name="adj" fmla="val 11905"/>
            </a:avLst>
          </a:prstGeom>
          <a:solidFill>
            <a:srgbClr val="0B1020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140660-2625-4DF5-B059-116B3212CF01}"/>
              </a:ext>
            </a:extLst>
          </p:cNvPr>
          <p:cNvSpPr>
            <a:spLocks noGrp="1"/>
          </p:cNvSpPr>
          <p:nvPr/>
        </p:nvSpPr>
        <p:spPr>
          <a:xfrm>
            <a:off x="857250" y="5753100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Worker 不持 PAT  ·  PAT 不进入日志、PPT、Trace 或 Agent 上下文</a:t>
            </a:r>
          </a:p>
        </p:txBody>
      </p:sp>
    </p:spTree>
    <p:extLst>
      <p:ext uri="{BB962C8B-B14F-4D97-AF65-F5344CB8AC3E}">
        <p14:creationId xmlns:p14="http://schemas.microsoft.com/office/powerpoint/2010/main" val="207476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4B040781-1B70-4169-81CE-3B33FC4CA8D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370B4E-3DAB-4DF4-BAEE-095F1E12098A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数据与证据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BF633C38-4AF5-4E2A-8904-AD59632E330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审计与可观测，不是一个“侧车”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9EA87E-9EE5-408E-9DB8-B7D46702C708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42654D-0ACD-409E-AFA3-0D05D4E50E9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4E7D10-89E7-4686-A556-133B5F09E3D4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0BF37C-41C6-46D0-A67A-20725F138C53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29A4D5-2AAE-4224-B810-2C97572E0F2F}"/>
              </a:ext>
            </a:extLst>
          </p:cNvPr>
          <p:cNvSpPr>
            <a:spLocks noGrp="1"/>
          </p:cNvSpPr>
          <p:nvPr/>
        </p:nvSpPr>
        <p:spPr>
          <a:xfrm>
            <a:off x="1028700" y="18288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52AA9-DED6-4689-9342-F5625F2A9CFC}"/>
              </a:ext>
            </a:extLst>
          </p:cNvPr>
          <p:cNvSpPr>
            <a:spLocks noGrp="1"/>
          </p:cNvSpPr>
          <p:nvPr/>
        </p:nvSpPr>
        <p:spPr>
          <a:xfrm>
            <a:off x="3105150" y="18478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任务状态 · 阶段 · Outbox · 审批 · 结构化审计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2080A06-3307-4EA7-BA98-3CD7C6D7AC33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EEB4BF-1D25-42F6-B4F4-5F9DB66464EB}"/>
              </a:ext>
            </a:extLst>
          </p:cNvPr>
          <p:cNvSpPr>
            <a:spLocks noGrp="1"/>
          </p:cNvSpPr>
          <p:nvPr/>
        </p:nvSpPr>
        <p:spPr>
          <a:xfrm>
            <a:off x="8858250" y="19431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已实现 / 已验证（限定环境）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2DDAE0-3CB2-48FD-9BC1-B3DEC567E69F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EEFF29-2CC3-46A7-A6D2-80E4802CCFDA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0D99B5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BFD2-BCA4-4BF3-9A05-3D1F82324D26}"/>
              </a:ext>
            </a:extLst>
          </p:cNvPr>
          <p:cNvSpPr>
            <a:spLocks noGrp="1"/>
          </p:cNvSpPr>
          <p:nvPr/>
        </p:nvSpPr>
        <p:spPr>
          <a:xfrm>
            <a:off x="1028700" y="2743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177854-4DCB-4C2C-B899-D91262E9691A}"/>
              </a:ext>
            </a:extLst>
          </p:cNvPr>
          <p:cNvSpPr>
            <a:spLocks noGrp="1"/>
          </p:cNvSpPr>
          <p:nvPr/>
        </p:nvSpPr>
        <p:spPr>
          <a:xfrm>
            <a:off x="3105150" y="27622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案例检索 · 相似度结果 · advisory evidence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99B3123-5C08-4900-8A1F-D0F67F071154}"/>
              </a:ext>
            </a:extLst>
          </p:cNvPr>
          <p:cNvSpPr>
            <a:spLocks noGrp="1"/>
          </p:cNvSpPr>
          <p:nvPr/>
        </p:nvSpPr>
        <p:spPr>
          <a:xfrm>
            <a:off x="8858250" y="28384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9525">
            <a:solidFill>
              <a:srgbClr val="0D99B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50B67F-D3C6-40DF-8588-DBD9955C1813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rPr>
              <a:t>已实现 / 离线验证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B1EDC5-08C3-44FD-8173-223049DDD607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5535472-77B8-45D4-A13F-4FC59CDE5E77}"/>
              </a:ext>
            </a:extLst>
          </p:cNvPr>
          <p:cNvSpPr>
            <a:spLocks noGrp="1"/>
          </p:cNvSpPr>
          <p:nvPr/>
        </p:nvSpPr>
        <p:spPr>
          <a:xfrm>
            <a:off x="704850" y="36195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14E938-8B0A-4361-91E9-F274020A3504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1C4800-B141-4C62-80E7-7C9F5CA0F293}"/>
              </a:ext>
            </a:extLst>
          </p:cNvPr>
          <p:cNvSpPr>
            <a:spLocks noGrp="1"/>
          </p:cNvSpPr>
          <p:nvPr/>
        </p:nvSpPr>
        <p:spPr>
          <a:xfrm>
            <a:off x="3105150" y="3676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方向感知配置 · 对象与证据持久化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37A484-F39A-48E9-9183-41F74BF949D6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6CFDB5-A864-4BBF-B70C-7F69B20F28B1}"/>
              </a:ext>
            </a:extLst>
          </p:cNvPr>
          <p:cNvSpPr>
            <a:spLocks noGrp="1"/>
          </p:cNvSpPr>
          <p:nvPr/>
        </p:nvSpPr>
        <p:spPr>
          <a:xfrm>
            <a:off x="8858250" y="37719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已实现 / 本地真实验证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B9343D-9987-4AC9-84F2-A7D27A1FB25B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270EA4C-C9C6-4433-B91E-7874A15FED4F}"/>
              </a:ext>
            </a:extLst>
          </p:cNvPr>
          <p:cNvSpPr>
            <a:spLocks noGrp="1"/>
          </p:cNvSpPr>
          <p:nvPr/>
        </p:nvSpPr>
        <p:spPr>
          <a:xfrm>
            <a:off x="704850" y="45339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3F0284-6917-40DC-8E2F-36C5A6A2D78A}"/>
              </a:ext>
            </a:extLst>
          </p:cNvPr>
          <p:cNvSpPr>
            <a:spLocks noGrp="1"/>
          </p:cNvSpPr>
          <p:nvPr/>
        </p:nvSpPr>
        <p:spPr>
          <a:xfrm>
            <a:off x="1028700" y="45720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Trace / OTel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751DF0-C1B5-4A72-A34E-F500E4FC17EF}"/>
              </a:ext>
            </a:extLst>
          </p:cNvPr>
          <p:cNvSpPr>
            <a:spLocks noGrp="1"/>
          </p:cNvSpPr>
          <p:nvPr/>
        </p:nvSpPr>
        <p:spPr>
          <a:xfrm>
            <a:off x="3105150" y="45910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Controller · Gateway · Skill 关联链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FC26EA0-4DF5-44B7-86F1-CA78E0B3C6A5}"/>
              </a:ext>
            </a:extLst>
          </p:cNvPr>
          <p:cNvSpPr>
            <a:spLocks noGrp="1"/>
          </p:cNvSpPr>
          <p:nvPr/>
        </p:nvSpPr>
        <p:spPr>
          <a:xfrm>
            <a:off x="8858250" y="46672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BCAC77-0844-42EB-83FA-22DC22DF6CEA}"/>
              </a:ext>
            </a:extLst>
          </p:cNvPr>
          <p:cNvSpPr>
            <a:spLocks noGrp="1"/>
          </p:cNvSpPr>
          <p:nvPr/>
        </p:nvSpPr>
        <p:spPr>
          <a:xfrm>
            <a:off x="8858250" y="46863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本地 collector 已验证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1F3DB3-CDFF-4FC7-B9B9-48D0A59686DE}"/>
              </a:ext>
            </a:extLst>
          </p:cNvPr>
          <p:cNvSpPr>
            <a:spLocks noGrp="1"/>
          </p:cNvSpPr>
          <p:nvPr/>
        </p:nvSpPr>
        <p:spPr>
          <a:xfrm>
            <a:off x="1028700" y="51244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C9CB619-EA58-49F4-B35A-7D307CB8A6C8}"/>
              </a:ext>
            </a:extLst>
          </p:cNvPr>
          <p:cNvSpPr>
            <a:spLocks noGrp="1"/>
          </p:cNvSpPr>
          <p:nvPr/>
        </p:nvSpPr>
        <p:spPr>
          <a:xfrm>
            <a:off x="704850" y="5600700"/>
            <a:ext cx="10572750" cy="47625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F836C1-4FAF-426A-9109-424B12968CB5}"/>
              </a:ext>
            </a:extLst>
          </p:cNvPr>
          <p:cNvSpPr>
            <a:spLocks noGrp="1"/>
          </p:cNvSpPr>
          <p:nvPr/>
        </p:nvSpPr>
        <p:spPr>
          <a:xfrm>
            <a:off x="914400" y="5724525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SLS 云出口：规划 / 待接入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9BB270-47C8-4ABB-AE55-490D78A91227}"/>
              </a:ext>
            </a:extLst>
          </p:cNvPr>
          <p:cNvSpPr>
            <a:spLocks noGrp="1"/>
          </p:cNvSpPr>
          <p:nvPr/>
        </p:nvSpPr>
        <p:spPr>
          <a:xfrm>
            <a:off x="4991100" y="5724525"/>
            <a:ext cx="600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0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database_verified=false   audit_producer_contract=NOT_VERIFIED</a:t>
            </a:r>
          </a:p>
        </p:txBody>
      </p:sp>
    </p:spTree>
    <p:extLst>
      <p:ext uri="{BB962C8B-B14F-4D97-AF65-F5344CB8AC3E}">
        <p14:creationId xmlns:p14="http://schemas.microsoft.com/office/powerpoint/2010/main" val="142402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30706C9-8272-4068-AC43-0F9B852C93B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2D3473-2E5D-44E3-8E2E-B3DF54B2267A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Fail-closed</a:t>
            </a:r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8F4DEE5C-3945-415F-A153-A61EFFB36CF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失败先停住，再依据事实回滚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7ADE75-4062-4465-B7D9-05BB580B2F85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D2E1A0-2D5F-459B-925D-32BB30B0FB53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70B057-A484-4040-BE6C-B0725B2CCB92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998E669-2CB6-4483-AA9B-8D465D1AC3E7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D7EF06B-96CB-496E-958F-57EFFF4C185D}"/>
              </a:ext>
            </a:extLst>
          </p:cNvPr>
          <p:cNvSpPr>
            <a:spLocks noGrp="1"/>
          </p:cNvSpPr>
          <p:nvPr/>
        </p:nvSpPr>
        <p:spPr>
          <a:xfrm>
            <a:off x="47625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779A1B-D82E-42CB-9C68-746AC79FCE1A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VERIFY</a:t>
            </a:r>
          </a:p>
          <a:p>
            <a:pPr algn="ctr">
              <a:def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FAIL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8449110-C806-4783-A2CF-33F6FDB313F5}"/>
              </a:ext>
            </a:extLst>
          </p:cNvPr>
          <p:cNvSpPr>
            <a:spLocks noGrp="1"/>
          </p:cNvSpPr>
          <p:nvPr/>
        </p:nvSpPr>
        <p:spPr>
          <a:xfrm>
            <a:off x="392430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D40A00-B4B0-4959-9142-247B94F421F9}"/>
              </a:ext>
            </a:extLst>
          </p:cNvPr>
          <p:cNvSpPr>
            <a:spLocks noGrp="1"/>
          </p:cNvSpPr>
          <p:nvPr/>
        </p:nvSpPr>
        <p:spPr>
          <a:xfrm>
            <a:off x="240030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AAA5C9-B5BB-429C-9544-F126A0A5F92A}"/>
              </a:ext>
            </a:extLst>
          </p:cNvPr>
          <p:cNvSpPr>
            <a:spLocks noGrp="1"/>
          </p:cNvSpPr>
          <p:nvPr/>
        </p:nvSpPr>
        <p:spPr>
          <a:xfrm>
            <a:off x="247650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rPr>
              <a:t>HOLD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BB2A8AB-0439-479D-AFB2-4FAEE834867E}"/>
              </a:ext>
            </a:extLst>
          </p:cNvPr>
          <p:cNvSpPr>
            <a:spLocks noGrp="1"/>
          </p:cNvSpPr>
          <p:nvPr/>
        </p:nvSpPr>
        <p:spPr>
          <a:xfrm>
            <a:off x="584835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EE098BB-52BF-4D95-9005-3F2C37E0E16B}"/>
              </a:ext>
            </a:extLst>
          </p:cNvPr>
          <p:cNvSpPr>
            <a:spLocks noGrp="1"/>
          </p:cNvSpPr>
          <p:nvPr/>
        </p:nvSpPr>
        <p:spPr>
          <a:xfrm>
            <a:off x="432435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00952C-8CAF-47BC-8B22-4DFFC02F001B}"/>
              </a:ext>
            </a:extLst>
          </p:cNvPr>
          <p:cNvSpPr>
            <a:spLocks noGrp="1"/>
          </p:cNvSpPr>
          <p:nvPr/>
        </p:nvSpPr>
        <p:spPr>
          <a:xfrm>
            <a:off x="440055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447"/>
          </a:bodyPr>
          <a:lstStyle/>
          <a:p>
            <a:pPr algn="ctr">
              <a:def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REVISION +</a:t>
            </a:r>
          </a:p>
          <a:p>
            <a:pPr algn="ctr">
              <a:def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APPROVAL CHECK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3F39BAC-A6A6-4ACE-A572-7DA03E763981}"/>
              </a:ext>
            </a:extLst>
          </p:cNvPr>
          <p:cNvSpPr>
            <a:spLocks noGrp="1"/>
          </p:cNvSpPr>
          <p:nvPr/>
        </p:nvSpPr>
        <p:spPr>
          <a:xfrm>
            <a:off x="777240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841891E-2E03-4D75-AE20-79F5E2608249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14CDA6-7E7E-4BBB-A1B5-0272BDF77785}"/>
              </a:ext>
            </a:extLst>
          </p:cNvPr>
          <p:cNvSpPr>
            <a:spLocks noGrp="1"/>
          </p:cNvSpPr>
          <p:nvPr/>
        </p:nvSpPr>
        <p:spPr>
          <a:xfrm>
            <a:off x="632460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REVERT</a:t>
            </a:r>
          </a:p>
          <a:p>
            <a:pPr algn="ctr">
              <a:def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CHILD-RUN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FC05D6D-A689-41F3-9DC8-88779A1BB6B7}"/>
              </a:ext>
            </a:extLst>
          </p:cNvPr>
          <p:cNvSpPr>
            <a:spLocks noGrp="1"/>
          </p:cNvSpPr>
          <p:nvPr/>
        </p:nvSpPr>
        <p:spPr>
          <a:xfrm>
            <a:off x="969645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EF629AE-0842-45A0-B810-0BFA1FCE999D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00A7DE-82DB-4EA4-AEB1-59AE1CD57746}"/>
              </a:ext>
            </a:extLst>
          </p:cNvPr>
          <p:cNvSpPr>
            <a:spLocks noGrp="1"/>
          </p:cNvSpPr>
          <p:nvPr/>
        </p:nvSpPr>
        <p:spPr>
          <a:xfrm>
            <a:off x="824865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RE-VERIFY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BA19230-3B3D-42F8-A78F-2185527BC73E}"/>
              </a:ext>
            </a:extLst>
          </p:cNvPr>
          <p:cNvSpPr>
            <a:spLocks noGrp="1"/>
          </p:cNvSpPr>
          <p:nvPr/>
        </p:nvSpPr>
        <p:spPr>
          <a:xfrm>
            <a:off x="1009650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47CDF5-D703-4C1F-8905-8F36A9B77476}"/>
              </a:ext>
            </a:extLst>
          </p:cNvPr>
          <p:cNvSpPr>
            <a:spLocks noGrp="1"/>
          </p:cNvSpPr>
          <p:nvPr/>
        </p:nvSpPr>
        <p:spPr>
          <a:xfrm>
            <a:off x="1017270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RECOVERED</a:t>
            </a:r>
          </a:p>
          <a:p>
            <a:pPr algn="ctr">
              <a:def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或 HOLD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6BF30E-3C24-492D-811D-14221D4ACB81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6667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先记后写：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WAL / journal在mutation前持久化。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精确owner：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锁、receipt、容器和网络按归属逆序清理。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保留主错误：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rollback失败不会覆盖首个稳定错误。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ACDC77B-783E-4DF6-A3E6-C05BE065C6E6}"/>
              </a:ext>
            </a:extLst>
          </p:cNvPr>
          <p:cNvSpPr>
            <a:spLocks noGrp="1"/>
          </p:cNvSpPr>
          <p:nvPr/>
        </p:nvSpPr>
        <p:spPr>
          <a:xfrm>
            <a:off x="8020050" y="3886200"/>
            <a:ext cx="3143250" cy="152400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74FDC1-7E90-4B30-8C11-5B2C9E6B3784}"/>
              </a:ext>
            </a:extLst>
          </p:cNvPr>
          <p:cNvSpPr>
            <a:spLocks noGrp="1"/>
          </p:cNvSpPr>
          <p:nvPr/>
        </p:nvSpPr>
        <p:spPr>
          <a:xfrm>
            <a:off x="8201025" y="4124325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83"/>
          </a:bodyPr>
          <a:lstStyle/>
          <a:p>
            <a:pPr algn="ctr">
              <a:def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任何读取失败或</a:t>
            </a:r>
            <a:r>
              <a:rPr sz="1575" b="1" dirty="0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 revision </a:t>
            </a:r>
            <a:r>
              <a:rPr sz="1575" b="1" dirty="0" err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漂移</a:t>
            </a:r>
            <a:endParaRPr sz="1575" b="1" dirty="0">
              <a:solidFill>
                <a:srgbClr val="C43D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AF83C-C50F-4554-9DA4-F6FB87595DCA}"/>
              </a:ext>
            </a:extLst>
          </p:cNvPr>
          <p:cNvSpPr>
            <a:spLocks noGrp="1"/>
          </p:cNvSpPr>
          <p:nvPr/>
        </p:nvSpPr>
        <p:spPr>
          <a:xfrm>
            <a:off x="8248650" y="4667250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不猜、不重试盲写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直接 HOLD 升级人工</a:t>
            </a:r>
          </a:p>
        </p:txBody>
      </p:sp>
    </p:spTree>
    <p:extLst>
      <p:ext uri="{BB962C8B-B14F-4D97-AF65-F5344CB8AC3E}">
        <p14:creationId xmlns:p14="http://schemas.microsoft.com/office/powerpoint/2010/main" val="146435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C43331B9-61DB-4DCF-BE38-0BB245DF86F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395904-55E7-479D-8CF2-733572075B68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 E2E 证据</a:t>
            </a:r>
          </a:p>
        </p:txBody>
      </p:sp>
      <p:sp>
        <p:nvSpPr>
          <p:cNvPr id="3" name="slide-11-title">
            <a:extLst>
              <a:ext uri="{FF2B5EF4-FFF2-40B4-BE49-F238E27FC236}">
                <a16:creationId xmlns:a16="http://schemas.microsoft.com/office/drawing/2014/main" id="{332FB69F-B89C-4D5C-8559-E1F622D16E6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run35：同一运行收敛到 complete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D3486-42DD-4FF3-BB11-94F5BDD3DE3B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F5D925-89E0-4AF3-A88E-E54CBD958A8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13CC53-4128-42EE-B3EB-9858BF196C91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46F2E0-E000-42EE-9EFD-B63D540F031F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142050-A7C7-4F2E-8203-F9195F66C69A}"/>
              </a:ext>
            </a:extLst>
          </p:cNvPr>
          <p:cNvSpPr>
            <a:spLocks noGrp="1"/>
          </p:cNvSpPr>
          <p:nvPr/>
        </p:nvSpPr>
        <p:spPr>
          <a:xfrm>
            <a:off x="62865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阶段完成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628664-EB96-4D0B-9CE6-BA24D9706D93}"/>
              </a:ext>
            </a:extLst>
          </p:cNvPr>
          <p:cNvSpPr>
            <a:spLocks noGrp="1"/>
          </p:cNvSpPr>
          <p:nvPr/>
        </p:nvSpPr>
        <p:spPr>
          <a:xfrm>
            <a:off x="3200400" y="1847850"/>
            <a:ext cx="9525" cy="9715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14E168-75D6-468D-90AB-57DBF8916F1A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16 / 16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C7BC3-9026-4FF7-ADF1-6BFDB70403D2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前置门禁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DAD2E4-9842-46A7-8EE9-1C771B1863E3}"/>
              </a:ext>
            </a:extLst>
          </p:cNvPr>
          <p:cNvSpPr>
            <a:spLocks noGrp="1"/>
          </p:cNvSpPr>
          <p:nvPr/>
        </p:nvSpPr>
        <p:spPr>
          <a:xfrm>
            <a:off x="6000750" y="1847850"/>
            <a:ext cx="9525" cy="9715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9FEA09-8AC3-4F15-BB7E-8888F9EB69F4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6 / 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5617C0-ACC5-4F59-9CB9-D9B1B5D1BBBB}"/>
              </a:ext>
            </a:extLst>
          </p:cNvPr>
          <p:cNvSpPr>
            <a:spLocks noGrp="1"/>
          </p:cNvSpPr>
          <p:nvPr/>
        </p:nvSpPr>
        <p:spPr>
          <a:xfrm>
            <a:off x="622935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路由边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DD81E0-4430-4963-9E93-024866978E3E}"/>
              </a:ext>
            </a:extLst>
          </p:cNvPr>
          <p:cNvSpPr>
            <a:spLocks noGrp="1"/>
          </p:cNvSpPr>
          <p:nvPr/>
        </p:nvSpPr>
        <p:spPr>
          <a:xfrm>
            <a:off x="8801100" y="1847850"/>
            <a:ext cx="9525" cy="9715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08B99B-84D9-4ED1-83E6-2DDCE7A6F30F}"/>
              </a:ext>
            </a:extLst>
          </p:cNvPr>
          <p:cNvSpPr>
            <a:spLocks noGrp="1"/>
          </p:cNvSpPr>
          <p:nvPr/>
        </p:nvSpPr>
        <p:spPr>
          <a:xfrm>
            <a:off x="902970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41404D-FA05-4F77-8158-8369334B642C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Receipt + Matrix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0C30F33-9FFC-4BED-BA35-A7EFD6BDB085}"/>
              </a:ext>
            </a:extLst>
          </p:cNvPr>
          <p:cNvSpPr>
            <a:spLocks noGrp="1"/>
          </p:cNvSpPr>
          <p:nvPr/>
        </p:nvSpPr>
        <p:spPr>
          <a:xfrm>
            <a:off x="6477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EE9D4E-3310-4D11-8F06-2233461E6464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前置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677E02-8C62-49F7-B849-634D048BA253}"/>
              </a:ext>
            </a:extLst>
          </p:cNvPr>
          <p:cNvSpPr>
            <a:spLocks noGrp="1"/>
          </p:cNvSpPr>
          <p:nvPr/>
        </p:nvSpPr>
        <p:spPr>
          <a:xfrm>
            <a:off x="14859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E63185-721B-426A-A3E6-CD60929A4F10}"/>
              </a:ext>
            </a:extLst>
          </p:cNvPr>
          <p:cNvSpPr>
            <a:spLocks noGrp="1"/>
          </p:cNvSpPr>
          <p:nvPr/>
        </p:nvSpPr>
        <p:spPr>
          <a:xfrm>
            <a:off x="14478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CEDEDBC-837A-431B-A95D-38A3300D9CF8}"/>
              </a:ext>
            </a:extLst>
          </p:cNvPr>
          <p:cNvSpPr>
            <a:spLocks noGrp="1"/>
          </p:cNvSpPr>
          <p:nvPr/>
        </p:nvSpPr>
        <p:spPr>
          <a:xfrm>
            <a:off x="23241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862D91-289E-4459-B1AC-19C5834A4A83}"/>
              </a:ext>
            </a:extLst>
          </p:cNvPr>
          <p:cNvSpPr>
            <a:spLocks noGrp="1"/>
          </p:cNvSpPr>
          <p:nvPr/>
        </p:nvSpPr>
        <p:spPr>
          <a:xfrm>
            <a:off x="22860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容器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7567B07-6C95-4E26-AE6A-1FCD1F1D7669}"/>
              </a:ext>
            </a:extLst>
          </p:cNvPr>
          <p:cNvSpPr>
            <a:spLocks noGrp="1"/>
          </p:cNvSpPr>
          <p:nvPr/>
        </p:nvSpPr>
        <p:spPr>
          <a:xfrm>
            <a:off x="31623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84D066-AE5C-4B18-A8C7-D9A87B89651F}"/>
              </a:ext>
            </a:extLst>
          </p:cNvPr>
          <p:cNvSpPr>
            <a:spLocks noGrp="1"/>
          </p:cNvSpPr>
          <p:nvPr/>
        </p:nvSpPr>
        <p:spPr>
          <a:xfrm>
            <a:off x="31242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防火墙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4552BAA-8BFA-44E6-889C-82C82DF5B043}"/>
              </a:ext>
            </a:extLst>
          </p:cNvPr>
          <p:cNvSpPr>
            <a:spLocks noGrp="1"/>
          </p:cNvSpPr>
          <p:nvPr/>
        </p:nvSpPr>
        <p:spPr>
          <a:xfrm>
            <a:off x="40005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9E6A3E-ACB5-4F63-8E2B-2873505881EA}"/>
              </a:ext>
            </a:extLst>
          </p:cNvPr>
          <p:cNvSpPr>
            <a:spLocks noGrp="1"/>
          </p:cNvSpPr>
          <p:nvPr/>
        </p:nvSpPr>
        <p:spPr>
          <a:xfrm>
            <a:off x="39624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中继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516E93B-3EE2-403A-8C1B-1FA5B0DD2E66}"/>
              </a:ext>
            </a:extLst>
          </p:cNvPr>
          <p:cNvSpPr>
            <a:spLocks noGrp="1"/>
          </p:cNvSpPr>
          <p:nvPr/>
        </p:nvSpPr>
        <p:spPr>
          <a:xfrm>
            <a:off x="48387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E08FF6-0D58-4CA3-AF15-37106B848AA4}"/>
              </a:ext>
            </a:extLst>
          </p:cNvPr>
          <p:cNvSpPr>
            <a:spLocks noGrp="1"/>
          </p:cNvSpPr>
          <p:nvPr/>
        </p:nvSpPr>
        <p:spPr>
          <a:xfrm>
            <a:off x="48006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PG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7C2BDD8-EFA1-419F-9284-5FD35DF4B0CE}"/>
              </a:ext>
            </a:extLst>
          </p:cNvPr>
          <p:cNvSpPr>
            <a:spLocks noGrp="1"/>
          </p:cNvSpPr>
          <p:nvPr/>
        </p:nvSpPr>
        <p:spPr>
          <a:xfrm>
            <a:off x="56769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953F7A-42C0-4E63-A8B9-5FD0883A24A3}"/>
              </a:ext>
            </a:extLst>
          </p:cNvPr>
          <p:cNvSpPr>
            <a:spLocks noGrp="1"/>
          </p:cNvSpPr>
          <p:nvPr/>
        </p:nvSpPr>
        <p:spPr>
          <a:xfrm>
            <a:off x="56388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探针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7F98B63-BBCD-4776-A530-B7B0B31F0555}"/>
              </a:ext>
            </a:extLst>
          </p:cNvPr>
          <p:cNvSpPr>
            <a:spLocks noGrp="1"/>
          </p:cNvSpPr>
          <p:nvPr/>
        </p:nvSpPr>
        <p:spPr>
          <a:xfrm>
            <a:off x="65151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B3B0F9-B1CB-4290-97BC-D324B3034782}"/>
              </a:ext>
            </a:extLst>
          </p:cNvPr>
          <p:cNvSpPr>
            <a:spLocks noGrp="1"/>
          </p:cNvSpPr>
          <p:nvPr/>
        </p:nvSpPr>
        <p:spPr>
          <a:xfrm>
            <a:off x="64770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E41C2CA-EBE0-4D12-8993-C1145CA1AE6C}"/>
              </a:ext>
            </a:extLst>
          </p:cNvPr>
          <p:cNvSpPr>
            <a:spLocks noGrp="1"/>
          </p:cNvSpPr>
          <p:nvPr/>
        </p:nvSpPr>
        <p:spPr>
          <a:xfrm>
            <a:off x="73533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7B7D923-3B78-4411-AA56-024F5A604B43}"/>
              </a:ext>
            </a:extLst>
          </p:cNvPr>
          <p:cNvSpPr>
            <a:spLocks noGrp="1"/>
          </p:cNvSpPr>
          <p:nvPr/>
        </p:nvSpPr>
        <p:spPr>
          <a:xfrm>
            <a:off x="73152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C68D01D-13EE-4983-9406-4449EB4DB91E}"/>
              </a:ext>
            </a:extLst>
          </p:cNvPr>
          <p:cNvSpPr>
            <a:spLocks noGrp="1"/>
          </p:cNvSpPr>
          <p:nvPr/>
        </p:nvSpPr>
        <p:spPr>
          <a:xfrm>
            <a:off x="81915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92081B-3FCA-4F22-B593-A1E9FC5A2A08}"/>
              </a:ext>
            </a:extLst>
          </p:cNvPr>
          <p:cNvSpPr>
            <a:spLocks noGrp="1"/>
          </p:cNvSpPr>
          <p:nvPr/>
        </p:nvSpPr>
        <p:spPr>
          <a:xfrm>
            <a:off x="81534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13A8E3D-42CE-41F7-AF7C-0B2780A6B5C1}"/>
              </a:ext>
            </a:extLst>
          </p:cNvPr>
          <p:cNvSpPr>
            <a:spLocks noGrp="1"/>
          </p:cNvSpPr>
          <p:nvPr/>
        </p:nvSpPr>
        <p:spPr>
          <a:xfrm>
            <a:off x="90297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50D513F-A4A4-4197-AC83-0BCECA5AEADA}"/>
              </a:ext>
            </a:extLst>
          </p:cNvPr>
          <p:cNvSpPr>
            <a:spLocks noGrp="1"/>
          </p:cNvSpPr>
          <p:nvPr/>
        </p:nvSpPr>
        <p:spPr>
          <a:xfrm>
            <a:off x="89916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Receipt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6FE079B-4463-430B-B5BC-8B7F40AC77AB}"/>
              </a:ext>
            </a:extLst>
          </p:cNvPr>
          <p:cNvSpPr>
            <a:spLocks noGrp="1"/>
          </p:cNvSpPr>
          <p:nvPr/>
        </p:nvSpPr>
        <p:spPr>
          <a:xfrm>
            <a:off x="98679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209E03-9DF1-4186-AD36-44FE68A03562}"/>
              </a:ext>
            </a:extLst>
          </p:cNvPr>
          <p:cNvSpPr>
            <a:spLocks noGrp="1"/>
          </p:cNvSpPr>
          <p:nvPr/>
        </p:nvSpPr>
        <p:spPr>
          <a:xfrm>
            <a:off x="98298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Matrix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6678E8B-623E-468C-BBAF-29B6332B430C}"/>
              </a:ext>
            </a:extLst>
          </p:cNvPr>
          <p:cNvSpPr>
            <a:spLocks noGrp="1"/>
          </p:cNvSpPr>
          <p:nvPr/>
        </p:nvSpPr>
        <p:spPr>
          <a:xfrm>
            <a:off x="107061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C4F1583-EC91-4275-A229-9799DD19E587}"/>
              </a:ext>
            </a:extLst>
          </p:cNvPr>
          <p:cNvSpPr>
            <a:spLocks noGrp="1"/>
          </p:cNvSpPr>
          <p:nvPr/>
        </p:nvSpPr>
        <p:spPr>
          <a:xfrm>
            <a:off x="106680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5FD4181-A603-4F66-877B-7C4EE9E70594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10572750" cy="838200"/>
          </a:xfrm>
          <a:prstGeom prst="roundRect">
            <a:avLst>
              <a:gd name="adj" fmla="val 9091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E05C137-0E29-4732-8C46-130E0E0F4E0F}"/>
              </a:ext>
            </a:extLst>
          </p:cNvPr>
          <p:cNvSpPr>
            <a:spLocks noGrp="1"/>
          </p:cNvSpPr>
          <p:nvPr/>
        </p:nvSpPr>
        <p:spPr>
          <a:xfrm>
            <a:off x="971550" y="485775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transport_profile = wsl-user-relay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DF1579-56C5-49D5-8BB0-CC4A5F9DE6B2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5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direct_routing_verified = false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E75CCD9-9DD4-4598-8518-F4921AE879C8}"/>
              </a:ext>
            </a:extLst>
          </p:cNvPr>
          <p:cNvSpPr>
            <a:spLocks noGrp="1"/>
          </p:cNvSpPr>
          <p:nvPr/>
        </p:nvSpPr>
        <p:spPr>
          <a:xfrm>
            <a:off x="971550" y="5219700"/>
            <a:ext cx="998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六条边逐边验证通过，不等于内核直连路由已验证</a:t>
            </a:r>
            <a:r>
              <a:rPr sz="127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6372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4079D6E-5642-41BC-8C8D-CAC59409BA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B69997-EB87-44C0-8BB3-55B92BAEEA8B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只读运维控制台</a:t>
            </a:r>
          </a:p>
        </p:txBody>
      </p:sp>
      <p:sp>
        <p:nvSpPr>
          <p:cNvPr id="3" name="slide-12-title">
            <a:extLst>
              <a:ext uri="{FF2B5EF4-FFF2-40B4-BE49-F238E27FC236}">
                <a16:creationId xmlns:a16="http://schemas.microsoft.com/office/drawing/2014/main" id="{33A059BD-F4EA-4238-942D-11B37603A20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一个屏幕判断 Complete、Failed、Stale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8D48C5-FEEE-423C-ABB5-31D291AC19AC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56C6C1-D0BF-4985-85BB-1DCF9976C850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37F56C-5D11-46BB-91E7-DE6746345F30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46595" y="1483519"/>
            <a:ext cx="3803009" cy="4773226"/>
          </a:xfrm>
          <a:prstGeom prst="roundRect">
            <a:avLst>
              <a:gd name="adj" fmla="val 1778"/>
            </a:avLst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25941" b="25941"/>
          <a:stretch>
            <a:fillRect/>
          </a:stretch>
        </p:blipFill>
        <p:spPr>
          <a:xfrm>
            <a:off x="7696200" y="1638300"/>
            <a:ext cx="3905250" cy="2438400"/>
          </a:xfrm>
          <a:prstGeom prst="roundRect">
            <a:avLst>
              <a:gd name="adj" fmla="val 3125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F67AAA03-D3E9-4185-B649-14760BAC0CE2}"/>
              </a:ext>
            </a:extLst>
          </p:cNvPr>
          <p:cNvSpPr>
            <a:spLocks noGrp="1"/>
          </p:cNvSpPr>
          <p:nvPr/>
        </p:nvSpPr>
        <p:spPr>
          <a:xfrm>
            <a:off x="7905750" y="42672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D65F6A-AC68-4839-A4AC-E32D66BA7F53}"/>
              </a:ext>
            </a:extLst>
          </p:cNvPr>
          <p:cNvSpPr>
            <a:spLocks noGrp="1"/>
          </p:cNvSpPr>
          <p:nvPr/>
        </p:nvSpPr>
        <p:spPr>
          <a:xfrm>
            <a:off x="7905750" y="428625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C2A679-FEB5-4316-81CB-BD4132C7F6D7}"/>
              </a:ext>
            </a:extLst>
          </p:cNvPr>
          <p:cNvSpPr>
            <a:spLocks noGrp="1"/>
          </p:cNvSpPr>
          <p:nvPr/>
        </p:nvSpPr>
        <p:spPr>
          <a:xfrm>
            <a:off x="9124950" y="424815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首个稳定错误</a:t>
            </a:r>
          </a:p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失败阶段与路由边置顶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32F300-AD6F-479D-85C3-0EFED366F1AA}"/>
              </a:ext>
            </a:extLst>
          </p:cNvPr>
          <p:cNvSpPr>
            <a:spLocks noGrp="1"/>
          </p:cNvSpPr>
          <p:nvPr/>
        </p:nvSpPr>
        <p:spPr>
          <a:xfrm>
            <a:off x="7905750" y="50482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E697EC-7A7F-4D23-A387-A15029722083}"/>
              </a:ext>
            </a:extLst>
          </p:cNvPr>
          <p:cNvSpPr>
            <a:spLocks noGrp="1"/>
          </p:cNvSpPr>
          <p:nvPr/>
        </p:nvSpPr>
        <p:spPr>
          <a:xfrm>
            <a:off x="7905750" y="50673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STALE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F91546-6980-4EE0-BD72-DABAF2B70AB7}"/>
              </a:ext>
            </a:extLst>
          </p:cNvPr>
          <p:cNvSpPr>
            <a:spLocks noGrp="1"/>
          </p:cNvSpPr>
          <p:nvPr/>
        </p:nvSpPr>
        <p:spPr>
          <a:xfrm>
            <a:off x="9124950" y="502920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保留最后良好数据</a:t>
            </a:r>
          </a:p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年龄持续推进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9C7059-313D-4329-A397-7FC5F4CE2A29}"/>
              </a:ext>
            </a:extLst>
          </p:cNvPr>
          <p:cNvSpPr>
            <a:spLocks noGrp="1"/>
          </p:cNvSpPr>
          <p:nvPr/>
        </p:nvSpPr>
        <p:spPr>
          <a:xfrm>
            <a:off x="7696200" y="57531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GET-only · loopback-only · 无写操作控件</a:t>
            </a:r>
          </a:p>
        </p:txBody>
      </p:sp>
    </p:spTree>
    <p:extLst>
      <p:ext uri="{BB962C8B-B14F-4D97-AF65-F5344CB8AC3E}">
        <p14:creationId xmlns:p14="http://schemas.microsoft.com/office/powerpoint/2010/main" val="80599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76BAC884-9142-48CD-A245-75720F5FDDA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ECB562-7282-4F3F-A225-43D0BF0923CE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Windows 11 + WSL2</a:t>
            </a:r>
          </a:p>
        </p:txBody>
      </p:sp>
      <p:sp>
        <p:nvSpPr>
          <p:cNvPr id="3" name="slide-13-title">
            <a:extLst>
              <a:ext uri="{FF2B5EF4-FFF2-40B4-BE49-F238E27FC236}">
                <a16:creationId xmlns:a16="http://schemas.microsoft.com/office/drawing/2014/main" id="{A3409120-8538-487B-A0E3-9CF9A8E8283E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Preview 已变成可安装交付物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C78B0F-98DA-49CA-A72A-AD813F23237B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0530DB-CCCB-49D6-BEBE-FA8D87705BB5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2FD7F0-36A7-4488-98B7-F884D837EA5C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85B2DAE-2BE0-4AA4-AF86-00DCF1E09E89}"/>
              </a:ext>
            </a:extLst>
          </p:cNvPr>
          <p:cNvSpPr>
            <a:spLocks noGrp="1"/>
          </p:cNvSpPr>
          <p:nvPr/>
        </p:nvSpPr>
        <p:spPr>
          <a:xfrm>
            <a:off x="18288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2D3F97B-BADB-4DC7-8F72-9C8DE7F196CB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2965D0-D94C-49A0-8402-5D47006FA9E1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Check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08CC2DD-B40F-4B27-A397-19645D8EFEB5}"/>
              </a:ext>
            </a:extLst>
          </p:cNvPr>
          <p:cNvSpPr>
            <a:spLocks noGrp="1"/>
          </p:cNvSpPr>
          <p:nvPr/>
        </p:nvSpPr>
        <p:spPr>
          <a:xfrm>
            <a:off x="34671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6B14B82-C98A-46F6-AB79-DC9E0225AB50}"/>
              </a:ext>
            </a:extLst>
          </p:cNvPr>
          <p:cNvSpPr>
            <a:spLocks noGrp="1"/>
          </p:cNvSpPr>
          <p:nvPr/>
        </p:nvSpPr>
        <p:spPr>
          <a:xfrm>
            <a:off x="22098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BB856D-DF98-44B3-8642-D515CB51CFE2}"/>
              </a:ext>
            </a:extLst>
          </p:cNvPr>
          <p:cNvSpPr>
            <a:spLocks noGrp="1"/>
          </p:cNvSpPr>
          <p:nvPr/>
        </p:nvSpPr>
        <p:spPr>
          <a:xfrm>
            <a:off x="22098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Install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2EF81C5-6BEB-4024-8CA1-D8246E088B78}"/>
              </a:ext>
            </a:extLst>
          </p:cNvPr>
          <p:cNvSpPr>
            <a:spLocks noGrp="1"/>
          </p:cNvSpPr>
          <p:nvPr/>
        </p:nvSpPr>
        <p:spPr>
          <a:xfrm>
            <a:off x="51054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672212-73EB-42FE-920F-FC3CAE69DB2D}"/>
              </a:ext>
            </a:extLst>
          </p:cNvPr>
          <p:cNvSpPr>
            <a:spLocks noGrp="1"/>
          </p:cNvSpPr>
          <p:nvPr/>
        </p:nvSpPr>
        <p:spPr>
          <a:xfrm>
            <a:off x="38481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56519B-DA83-4F93-8222-6F6E2B1FE077}"/>
              </a:ext>
            </a:extLst>
          </p:cNvPr>
          <p:cNvSpPr>
            <a:spLocks noGrp="1"/>
          </p:cNvSpPr>
          <p:nvPr/>
        </p:nvSpPr>
        <p:spPr>
          <a:xfrm>
            <a:off x="38481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Doctor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42FBC30-D643-468D-9CCF-8C343CCF17EF}"/>
              </a:ext>
            </a:extLst>
          </p:cNvPr>
          <p:cNvSpPr>
            <a:spLocks noGrp="1"/>
          </p:cNvSpPr>
          <p:nvPr/>
        </p:nvSpPr>
        <p:spPr>
          <a:xfrm>
            <a:off x="67437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77649C-DE2A-4E71-8785-0282DE07F053}"/>
              </a:ext>
            </a:extLst>
          </p:cNvPr>
          <p:cNvSpPr>
            <a:spLocks noGrp="1"/>
          </p:cNvSpPr>
          <p:nvPr/>
        </p:nvSpPr>
        <p:spPr>
          <a:xfrm>
            <a:off x="54864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1B6FE9-CA33-4E3A-8353-9F88CDFBAB87}"/>
              </a:ext>
            </a:extLst>
          </p:cNvPr>
          <p:cNvSpPr>
            <a:spLocks noGrp="1"/>
          </p:cNvSpPr>
          <p:nvPr/>
        </p:nvSpPr>
        <p:spPr>
          <a:xfrm>
            <a:off x="54864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Start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51B7B88-83FA-4D79-A107-DD032A252EDD}"/>
              </a:ext>
            </a:extLst>
          </p:cNvPr>
          <p:cNvSpPr>
            <a:spLocks noGrp="1"/>
          </p:cNvSpPr>
          <p:nvPr/>
        </p:nvSpPr>
        <p:spPr>
          <a:xfrm>
            <a:off x="83820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54A6651-5D62-4714-A778-BC5C964539C4}"/>
              </a:ext>
            </a:extLst>
          </p:cNvPr>
          <p:cNvSpPr>
            <a:spLocks noGrp="1"/>
          </p:cNvSpPr>
          <p:nvPr/>
        </p:nvSpPr>
        <p:spPr>
          <a:xfrm>
            <a:off x="71247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794237-8314-404E-92F2-8E751FDEF514}"/>
              </a:ext>
            </a:extLst>
          </p:cNvPr>
          <p:cNvSpPr>
            <a:spLocks noGrp="1"/>
          </p:cNvSpPr>
          <p:nvPr/>
        </p:nvSpPr>
        <p:spPr>
          <a:xfrm>
            <a:off x="71247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Status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BA8D2BD2-7BB4-422F-801E-B23E7202F99C}"/>
              </a:ext>
            </a:extLst>
          </p:cNvPr>
          <p:cNvSpPr>
            <a:spLocks noGrp="1"/>
          </p:cNvSpPr>
          <p:nvPr/>
        </p:nvSpPr>
        <p:spPr>
          <a:xfrm>
            <a:off x="100203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88FCF2A-E98F-4FBE-A92B-5BC3CD90B05D}"/>
              </a:ext>
            </a:extLst>
          </p:cNvPr>
          <p:cNvSpPr>
            <a:spLocks noGrp="1"/>
          </p:cNvSpPr>
          <p:nvPr/>
        </p:nvSpPr>
        <p:spPr>
          <a:xfrm>
            <a:off x="87630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C4E8E5-F51F-4F8B-9E0C-11D272FB2795}"/>
              </a:ext>
            </a:extLst>
          </p:cNvPr>
          <p:cNvSpPr>
            <a:spLocks noGrp="1"/>
          </p:cNvSpPr>
          <p:nvPr/>
        </p:nvSpPr>
        <p:spPr>
          <a:xfrm>
            <a:off x="87630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Stop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93F6B65-67E3-43EF-99DC-8AAB379AA471}"/>
              </a:ext>
            </a:extLst>
          </p:cNvPr>
          <p:cNvSpPr>
            <a:spLocks noGrp="1"/>
          </p:cNvSpPr>
          <p:nvPr/>
        </p:nvSpPr>
        <p:spPr>
          <a:xfrm>
            <a:off x="104013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8FAB7E-878B-43D1-9BBA-D151223A79F3}"/>
              </a:ext>
            </a:extLst>
          </p:cNvPr>
          <p:cNvSpPr>
            <a:spLocks noGrp="1"/>
          </p:cNvSpPr>
          <p:nvPr/>
        </p:nvSpPr>
        <p:spPr>
          <a:xfrm>
            <a:off x="104013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Cleanup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15BC2C-2D18-49DF-BAE9-9ECF0DB5C33D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冻结门禁 · 2246 passed / 20 skipped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179F96-A1A0-43EF-B99C-DE2129CE30AC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E94236-E2EA-4037-8B9D-1363D606CA3C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离线镜像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F204DD-7DF6-44B2-BB46-A94DAED65E32}"/>
              </a:ext>
            </a:extLst>
          </p:cNvPr>
          <p:cNvSpPr>
            <a:spLocks noGrp="1"/>
          </p:cNvSpPr>
          <p:nvPr/>
        </p:nvSpPr>
        <p:spPr>
          <a:xfrm>
            <a:off x="340995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847.4 MB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BD520EC-9D7B-4363-868A-17E410D99CD8}"/>
              </a:ext>
            </a:extLst>
          </p:cNvPr>
          <p:cNvSpPr>
            <a:spLocks noGrp="1"/>
          </p:cNvSpPr>
          <p:nvPr/>
        </p:nvSpPr>
        <p:spPr>
          <a:xfrm>
            <a:off x="340995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OCI tar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60BC2F-E5CC-44A6-8A86-D33C071D8DEB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200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E8765F-A51A-4A9D-B2DC-14E0155A5013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Windows 页面 / API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734D30C-9308-4173-89CE-A6860BEF785E}"/>
              </a:ext>
            </a:extLst>
          </p:cNvPr>
          <p:cNvSpPr>
            <a:spLocks noGrp="1"/>
          </p:cNvSpPr>
          <p:nvPr/>
        </p:nvSpPr>
        <p:spPr>
          <a:xfrm>
            <a:off x="878205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9CC0EE-4ABC-450A-8101-C70F816412B3}"/>
              </a:ext>
            </a:extLst>
          </p:cNvPr>
          <p:cNvSpPr>
            <a:spLocks noGrp="1"/>
          </p:cNvSpPr>
          <p:nvPr/>
        </p:nvSpPr>
        <p:spPr>
          <a:xfrm>
            <a:off x="878205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终态残留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6A4B807-03C4-4277-81A5-2E1976D4C3AA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77500" cy="876300"/>
          </a:xfrm>
          <a:prstGeom prst="roundRect">
            <a:avLst>
              <a:gd name="adj" fmla="val 8696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5C57E44-D2CB-415E-BC81-E6DF70E4107D}"/>
              </a:ext>
            </a:extLst>
          </p:cNvPr>
          <p:cNvSpPr>
            <a:spLocks noGrp="1"/>
          </p:cNvSpPr>
          <p:nvPr/>
        </p:nvSpPr>
        <p:spPr>
          <a:xfrm>
            <a:off x="933450" y="4743450"/>
            <a:ext cx="2876550" cy="28575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80BD68-2361-4479-9195-A5BE85548AA7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2876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SAME_MACHINE_ACCEPTED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CD168FD-2B6F-4E5F-8C8F-B6E23C481B4B}"/>
              </a:ext>
            </a:extLst>
          </p:cNvPr>
          <p:cNvSpPr>
            <a:spLocks noGrp="1"/>
          </p:cNvSpPr>
          <p:nvPr/>
        </p:nvSpPr>
        <p:spPr>
          <a:xfrm>
            <a:off x="4171950" y="4743450"/>
            <a:ext cx="2362200" cy="285750"/>
          </a:xfrm>
          <a:prstGeom prst="roundRect">
            <a:avLst>
              <a:gd name="adj" fmla="val 50000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7C2A106-4FAE-4AD4-B603-E46D98C7DF21}"/>
              </a:ext>
            </a:extLst>
          </p:cNvPr>
          <p:cNvSpPr>
            <a:spLocks noGrp="1"/>
          </p:cNvSpPr>
          <p:nvPr/>
        </p:nvSpPr>
        <p:spPr>
          <a:xfrm>
            <a:off x="4171950" y="47625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EXTERNAL_BLOCKED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CB9DDAD-5594-461C-BC76-555CCB36303F}"/>
              </a:ext>
            </a:extLst>
          </p:cNvPr>
          <p:cNvSpPr>
            <a:spLocks noGrp="1"/>
          </p:cNvSpPr>
          <p:nvPr/>
        </p:nvSpPr>
        <p:spPr>
          <a:xfrm>
            <a:off x="6915150" y="478155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Pre-release · 非 Latest · 不声称 production ready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61ED23-D0F1-4879-B71C-71750AEE3F5F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checksum / image-set gate → load → doctor → explicit Windows loopback publication</a:t>
            </a:r>
          </a:p>
        </p:txBody>
      </p:sp>
    </p:spTree>
    <p:extLst>
      <p:ext uri="{BB962C8B-B14F-4D97-AF65-F5344CB8AC3E}">
        <p14:creationId xmlns:p14="http://schemas.microsoft.com/office/powerpoint/2010/main" val="80888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B0A4E3D-662E-4B34-AE4D-22004409282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20258F-EF4A-4371-9EA5-0782403FC98F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N=10×2 受控本地评测</a:t>
            </a:r>
          </a:p>
        </p:txBody>
      </p:sp>
      <p:sp>
        <p:nvSpPr>
          <p:cNvPr id="3" name="slide-14-title">
            <a:extLst>
              <a:ext uri="{FF2B5EF4-FFF2-40B4-BE49-F238E27FC236}">
                <a16:creationId xmlns:a16="http://schemas.microsoft.com/office/drawing/2014/main" id="{30428AFB-D23E-4682-B136-3439019DA85E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误报下降，但成本与校准仍需改进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C995CC-A5BA-4F11-B519-19F985E82F56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3EE37F-C5E1-4ACA-A5BC-C5645787480C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D6FA1B-97C8-404D-85B5-3F70CC4396B4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590550" y="1657350"/>
          <a:ext cx="66675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89327F92-F885-4127-9450-F53D75C50004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619500" cy="1123950"/>
          </a:xfrm>
          <a:prstGeom prst="roundRect">
            <a:avLst>
              <a:gd name="adj" fmla="val 678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A8F34-CE12-4169-8E22-35141FD5D9D9}"/>
              </a:ext>
            </a:extLst>
          </p:cNvPr>
          <p:cNvSpPr>
            <a:spLocks noGrp="1"/>
          </p:cNvSpPr>
          <p:nvPr/>
        </p:nvSpPr>
        <p:spPr>
          <a:xfrm>
            <a:off x="7962900" y="2038350"/>
            <a:ext cx="3086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FP  21 → 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904EB9-67DD-49FA-A355-8876C2756C7C}"/>
              </a:ext>
            </a:extLst>
          </p:cNvPr>
          <p:cNvSpPr>
            <a:spLocks noGrp="1"/>
          </p:cNvSpPr>
          <p:nvPr/>
        </p:nvSpPr>
        <p:spPr>
          <a:xfrm>
            <a:off x="7962900" y="25336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主要改善来自误报下降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E32829-1668-4887-9E6F-AE5130D2BC96}"/>
              </a:ext>
            </a:extLst>
          </p:cNvPr>
          <p:cNvSpPr>
            <a:spLocks noGrp="1"/>
          </p:cNvSpPr>
          <p:nvPr/>
        </p:nvSpPr>
        <p:spPr>
          <a:xfrm>
            <a:off x="7696200" y="3181350"/>
            <a:ext cx="3619500" cy="1123950"/>
          </a:xfrm>
          <a:prstGeom prst="roundRect">
            <a:avLst>
              <a:gd name="adj" fmla="val 678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156798-911E-4B25-9BBC-A498F6FB4483}"/>
              </a:ext>
            </a:extLst>
          </p:cNvPr>
          <p:cNvSpPr>
            <a:spLocks noGrp="1"/>
          </p:cNvSpPr>
          <p:nvPr/>
        </p:nvSpPr>
        <p:spPr>
          <a:xfrm>
            <a:off x="7962900" y="340995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Token  +32.95%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171576-758F-4B52-B530-1659A3A733B4}"/>
              </a:ext>
            </a:extLst>
          </p:cNvPr>
          <p:cNvSpPr>
            <a:spLocks noGrp="1"/>
          </p:cNvSpPr>
          <p:nvPr/>
        </p:nvSpPr>
        <p:spPr>
          <a:xfrm>
            <a:off x="7962900" y="384810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API requests  +80%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EA2301-6EFC-43D0-9755-62FF87ED448F}"/>
              </a:ext>
            </a:extLst>
          </p:cNvPr>
          <p:cNvSpPr>
            <a:spLocks noGrp="1"/>
          </p:cNvSpPr>
          <p:nvPr/>
        </p:nvSpPr>
        <p:spPr>
          <a:xfrm>
            <a:off x="7696200" y="455295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288441-711B-4AE6-93B8-D7131F525688}"/>
              </a:ext>
            </a:extLst>
          </p:cNvPr>
          <p:cNvSpPr>
            <a:spLocks noGrp="1"/>
          </p:cNvSpPr>
          <p:nvPr/>
        </p:nvSpPr>
        <p:spPr>
          <a:xfrm>
            <a:off x="7924800" y="48196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不能声明“多 Agent 必然更好”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86D634-E6A6-4AFE-8FB0-7C8FC3D61442}"/>
              </a:ext>
            </a:extLst>
          </p:cNvPr>
          <p:cNvSpPr>
            <a:spLocks noGrp="1"/>
          </p:cNvSpPr>
          <p:nvPr/>
        </p:nvSpPr>
        <p:spPr>
          <a:xfrm>
            <a:off x="7924800" y="521970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单模型 · 合成 fixture · 每组 10 例</a:t>
            </a:r>
          </a:p>
        </p:txBody>
      </p:sp>
    </p:spTree>
    <p:extLst>
      <p:ext uri="{BB962C8B-B14F-4D97-AF65-F5344CB8AC3E}">
        <p14:creationId xmlns:p14="http://schemas.microsoft.com/office/powerpoint/2010/main" val="60176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8EE9D74-A79B-4A23-839D-C1E0AD7A570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666075-1D6D-4297-8DCE-9E35ABEDB9A7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复赛交付</a:t>
            </a:r>
          </a:p>
        </p:txBody>
      </p:sp>
      <p:sp>
        <p:nvSpPr>
          <p:cNvPr id="3" name="slide-15-title">
            <a:extLst>
              <a:ext uri="{FF2B5EF4-FFF2-40B4-BE49-F238E27FC236}">
                <a16:creationId xmlns:a16="http://schemas.microsoft.com/office/drawing/2014/main" id="{054E02A0-6B7C-4700-A52C-CD94BCFED22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可运行、可证明，也明确未验证什么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5F97BE-91E3-4769-8CC0-D1E6ECB27890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9E20B8-844B-4733-A6CB-6358EAF73B4E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59895-606B-4CA8-A88D-DAAE2B2E0C8D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F9AA41-81D4-457A-8E2B-CEDEC497B97D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本次交付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08ADAC-9E55-4B7A-AF1E-9D9908C220B9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56D7D0-D3B3-4951-9152-2E5D74C22BA4}"/>
              </a:ext>
            </a:extLst>
          </p:cNvPr>
          <p:cNvSpPr>
            <a:spLocks noGrp="1"/>
          </p:cNvSpPr>
          <p:nvPr/>
        </p:nvSpPr>
        <p:spPr>
          <a:xfrm>
            <a:off x="1295400" y="2190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更新方案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DC9E43-D858-4C23-B190-AF0D03298E2F}"/>
              </a:ext>
            </a:extLst>
          </p:cNvPr>
          <p:cNvSpPr>
            <a:spLocks noGrp="1"/>
          </p:cNvSpPr>
          <p:nvPr/>
        </p:nvSpPr>
        <p:spPr>
          <a:xfrm>
            <a:off x="3486150" y="22193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PPT / PDF · 逐页证据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0080A9-D3F5-4694-B577-516C55A10EB3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4C60B8-C0FB-43BC-83B6-2287021681BB}"/>
              </a:ext>
            </a:extLst>
          </p:cNvPr>
          <p:cNvSpPr>
            <a:spLocks noGrp="1"/>
          </p:cNvSpPr>
          <p:nvPr/>
        </p:nvSpPr>
        <p:spPr>
          <a:xfrm>
            <a:off x="1295400" y="2971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9C1915-9E2D-4EAB-8948-B275E553DDB1}"/>
              </a:ext>
            </a:extLst>
          </p:cNvPr>
          <p:cNvSpPr>
            <a:spLocks noGrp="1"/>
          </p:cNvSpPr>
          <p:nvPr/>
        </p:nvSpPr>
        <p:spPr>
          <a:xfrm>
            <a:off x="3486150" y="30003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preview.3 · 9 镜像 · checksum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B7DA6B-5ECE-403F-981A-CFDB7B5B80D0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94CA0A-7884-4492-8F2C-6D3461930270}"/>
              </a:ext>
            </a:extLst>
          </p:cNvPr>
          <p:cNvSpPr>
            <a:spLocks noGrp="1"/>
          </p:cNvSpPr>
          <p:nvPr/>
        </p:nvSpPr>
        <p:spPr>
          <a:xfrm>
            <a:off x="1295400" y="3752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7CB613-9801-4B3B-AF88-ADADB974193A}"/>
              </a:ext>
            </a:extLst>
          </p:cNvPr>
          <p:cNvSpPr>
            <a:spLocks noGrp="1"/>
          </p:cNvSpPr>
          <p:nvPr/>
        </p:nvSpPr>
        <p:spPr>
          <a:xfrm>
            <a:off x="3486150" y="37814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现场脚本 · 录屏备份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A9AA64-F683-43C5-B958-78F7CB5D4B3D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932F6B-10CD-417A-BACF-7B310C425ADD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B1C59E-AE54-4884-9DC9-FF3F9D81C5A8}"/>
              </a:ext>
            </a:extLst>
          </p:cNvPr>
          <p:cNvSpPr>
            <a:spLocks noGrp="1"/>
          </p:cNvSpPr>
          <p:nvPr/>
        </p:nvSpPr>
        <p:spPr>
          <a:xfrm>
            <a:off x="3486150" y="4562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声明 · SHA · 测试 · 限制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B181F4F-E6A8-4B9D-9725-A28F9F23B016}"/>
              </a:ext>
            </a:extLst>
          </p:cNvPr>
          <p:cNvSpPr>
            <a:spLocks noGrp="1"/>
          </p:cNvSpPr>
          <p:nvPr/>
        </p:nvSpPr>
        <p:spPr>
          <a:xfrm>
            <a:off x="6724650" y="1714500"/>
            <a:ext cx="4552950" cy="3067050"/>
          </a:xfrm>
          <a:prstGeom prst="roundRect">
            <a:avLst>
              <a:gd name="adj" fmla="val 3106"/>
            </a:avLst>
          </a:prstGeom>
          <a:solidFill>
            <a:srgbClr val="14213D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B9971B-C913-4CEC-BBFA-ADEBF81A8E32}"/>
              </a:ext>
            </a:extLst>
          </p:cNvPr>
          <p:cNvSpPr>
            <a:spLocks noGrp="1"/>
          </p:cNvSpPr>
          <p:nvPr/>
        </p:nvSpPr>
        <p:spPr>
          <a:xfrm>
            <a:off x="7029450" y="20574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下一步不是继续堆 Agent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FEB282-054E-44FA-BEDF-617FB4EB1A0E}"/>
              </a:ext>
            </a:extLst>
          </p:cNvPr>
          <p:cNvSpPr>
            <a:spLocks noGrp="1"/>
          </p:cNvSpPr>
          <p:nvPr/>
        </p:nvSpPr>
        <p:spPr>
          <a:xfrm>
            <a:off x="7029450" y="268605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外部验收：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Windows 11 物理机。</a:t>
            </a:r>
          </a:p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扩大证据：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多仓库、更大真实样本。</a:t>
            </a:r>
          </a:p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补齐出口：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SLS 云端可观测。</a:t>
            </a:r>
          </a:p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安装与日常使用问题。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F921F36-1EE0-48B8-832E-57EBE01263F5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10553700" cy="628650"/>
          </a:xfrm>
          <a:prstGeom prst="roundRect">
            <a:avLst>
              <a:gd name="adj" fmla="val 9091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BF256E-C6A8-489C-A52B-0878B1DBF8EC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13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application / database / production / revision producer / audit producer：仍未验证</a:t>
            </a:r>
          </a:p>
        </p:txBody>
      </p:sp>
    </p:spTree>
    <p:extLst>
      <p:ext uri="{BB962C8B-B14F-4D97-AF65-F5344CB8AC3E}">
        <p14:creationId xmlns:p14="http://schemas.microsoft.com/office/powerpoint/2010/main" val="6115073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1751</Words>
  <Application>Microsoft Office PowerPoint</Application>
  <DocSecurity>0</DocSecurity>
  <PresentationFormat>宽屏</PresentationFormat>
  <Paragraphs>421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Calibri</vt:lpstr>
      <vt:lpstr>Cascadia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全安 邱</cp:lastModifiedBy>
  <cp:revision>1</cp:revision>
  <dcterms:created xsi:type="dcterms:W3CDTF">2026-08-25T02:24:24Z</dcterms:created>
  <dcterms:modified xsi:type="dcterms:W3CDTF">2026-08-26T04:19:06Z</dcterms:modified>
</cp:coreProperties>
</file>